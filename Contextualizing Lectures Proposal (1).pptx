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58" r:id="rId4"/>
    <p:sldId id="269" r:id="rId5"/>
    <p:sldId id="259" r:id="rId6"/>
    <p:sldId id="268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embeddedFontLst>
    <p:embeddedFont>
      <p:font typeface="Urbanist" panose="020B0604020202020204" charset="0"/>
      <p:regular r:id="rId17"/>
      <p:bold r:id="rId18"/>
      <p:italic r:id="rId19"/>
      <p:boldItalic r:id="rId20"/>
    </p:embeddedFont>
    <p:embeddedFont>
      <p:font typeface="Urbanist SemiBold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DEABB10-7D22-451A-91CD-F6D019F75A3C}">
  <a:tblStyle styleId="{1DEABB10-7D22-451A-91CD-F6D019F75A3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40a67cdd8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e40a67cdd8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4098f64fe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e4098f64fe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3f7408e45_0_8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e3f7408e45_0_8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e3f7408e45_0_30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e3f7408e45_0_30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e3f7408e45_0_1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e3f7408e45_0_1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enerated (g3e3f7408e45_46_0)">
  <p:cSld name="Generated (g3e3f7408e45_46_0)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jp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0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9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215096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4"/>
          <p:cNvSpPr txBox="1"/>
          <p:nvPr/>
        </p:nvSpPr>
        <p:spPr>
          <a:xfrm>
            <a:off x="295275" y="2216102"/>
            <a:ext cx="116016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Contextualizing </a:t>
            </a:r>
            <a:r>
              <a:rPr lang="en-US" sz="480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Lectures</a:t>
            </a:r>
            <a:endParaRPr/>
          </a:p>
        </p:txBody>
      </p:sp>
      <p:sp>
        <p:nvSpPr>
          <p:cNvPr id="87" name="Google Shape;87;p14"/>
          <p:cNvSpPr txBox="1"/>
          <p:nvPr/>
        </p:nvSpPr>
        <p:spPr>
          <a:xfrm>
            <a:off x="1809825" y="3228598"/>
            <a:ext cx="85725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 Proposal for Bridging the Gap Between Static Slides and Dynamic Professor Insights using </a:t>
            </a:r>
            <a:r>
              <a:rPr lang="en-US" sz="1800" dirty="0">
                <a:solidFill>
                  <a:srgbClr val="FF0000"/>
                </a:solidFill>
                <a:latin typeface="Urbanist"/>
                <a:ea typeface="Urbanist"/>
                <a:cs typeface="Urbanist"/>
                <a:sym typeface="Urbanist"/>
              </a:rPr>
              <a:t>Multimodal Study Assistant</a:t>
            </a:r>
            <a:endParaRPr dirty="0">
              <a:solidFill>
                <a:srgbClr val="FF0000"/>
              </a:solidFill>
            </a:endParaRPr>
          </a:p>
        </p:txBody>
      </p:sp>
      <p:pic>
        <p:nvPicPr>
          <p:cNvPr id="88" name="Google Shape;8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106025" y="260213"/>
            <a:ext cx="1790700" cy="18002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4"/>
          <p:cNvSpPr txBox="1"/>
          <p:nvPr/>
        </p:nvSpPr>
        <p:spPr>
          <a:xfrm>
            <a:off x="142000" y="4371100"/>
            <a:ext cx="11464800" cy="21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Students:																						</a:t>
            </a:r>
            <a:endParaRPr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"/>
              <a:buChar char="-"/>
            </a:pPr>
            <a:r>
              <a:rPr lang="en-US" sz="24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Osama Ahmed Hadi</a:t>
            </a:r>
            <a:endParaRPr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"/>
              <a:buChar char="-"/>
            </a:pPr>
            <a:r>
              <a:rPr lang="en-US" sz="24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Nabil Ibrahim Nagi</a:t>
            </a:r>
            <a:endParaRPr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"/>
              <a:buChar char="-"/>
            </a:pPr>
            <a:r>
              <a:rPr lang="en-US" sz="24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Emad Ayman Abdullah</a:t>
            </a:r>
            <a:endParaRPr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"/>
              <a:buChar char="-"/>
            </a:pPr>
            <a:r>
              <a:rPr lang="en-US" sz="24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Mohamed Essam Abdel Hamid</a:t>
            </a:r>
            <a:endParaRPr sz="24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8597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5"/>
          <p:cNvSpPr txBox="1"/>
          <p:nvPr/>
        </p:nvSpPr>
        <p:spPr>
          <a:xfrm>
            <a:off x="952500" y="1503759"/>
            <a:ext cx="48579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Static Summaries: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Lecture slides often contain only high-level bullet points, serving as an outline rather than a comprehensive guide.</a:t>
            </a:r>
            <a:endParaRPr/>
          </a:p>
        </p:txBody>
      </p:sp>
      <p:sp>
        <p:nvSpPr>
          <p:cNvPr id="97" name="Google Shape;97;p15"/>
          <p:cNvSpPr txBox="1"/>
          <p:nvPr/>
        </p:nvSpPr>
        <p:spPr>
          <a:xfrm>
            <a:off x="952500" y="2747367"/>
            <a:ext cx="48579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Dynamic Context: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Professors provide massive value verbally—explaining complex mechanics, giving real-world examples, and hinting at exam topics.</a:t>
            </a:r>
            <a:endParaRPr/>
          </a:p>
        </p:txBody>
      </p:sp>
      <p:sp>
        <p:nvSpPr>
          <p:cNvPr id="98" name="Google Shape;98;p15"/>
          <p:cNvSpPr txBox="1"/>
          <p:nvPr/>
        </p:nvSpPr>
        <p:spPr>
          <a:xfrm>
            <a:off x="952500" y="3990975"/>
            <a:ext cx="48579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Student Struggle:</a:t>
            </a:r>
            <a:r>
              <a:rPr lang="en-US" sz="16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Students frequently fail to map this crucial, unstructured verbal context back to specific slides while studying later.</a:t>
            </a:r>
            <a:endParaRPr/>
          </a:p>
        </p:txBody>
      </p:sp>
      <p:sp>
        <p:nvSpPr>
          <p:cNvPr id="99" name="Google Shape;99;p15"/>
          <p:cNvSpPr txBox="1"/>
          <p:nvPr/>
        </p:nvSpPr>
        <p:spPr>
          <a:xfrm>
            <a:off x="952500" y="5234578"/>
            <a:ext cx="48579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Goal:</a:t>
            </a:r>
            <a:r>
              <a:rPr lang="en-US" sz="1650" b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Empower students to easily bridge the gap between lecture slides and the professor's transcript, capturing every "hidden note" seamlessly.</a:t>
            </a:r>
            <a:endParaRPr sz="1650" b="1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100" name="Google Shape;10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095500"/>
            <a:ext cx="5219699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571500" y="379809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Disconnect in </a:t>
            </a:r>
            <a:r>
              <a:rPr lang="en-US" sz="360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Modern Education</a:t>
            </a:r>
            <a:endParaRPr/>
          </a:p>
        </p:txBody>
      </p:sp>
      <p:pic>
        <p:nvPicPr>
          <p:cNvPr id="102" name="Google Shape;10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1551384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794992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4038600"/>
            <a:ext cx="1047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5282207"/>
            <a:ext cx="104775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81225"/>
            <a:ext cx="3429000" cy="3619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181225"/>
            <a:ext cx="3429000" cy="3619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91500" y="2181225"/>
            <a:ext cx="3429000" cy="3619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05000" y="257175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6"/>
          <p:cNvSpPr txBox="1"/>
          <p:nvPr/>
        </p:nvSpPr>
        <p:spPr>
          <a:xfrm>
            <a:off x="1245870" y="3571875"/>
            <a:ext cx="208026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Audio Extraction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866775" y="4038600"/>
            <a:ext cx="283845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Isolate audio from provided lecture videos and run local transcription (e.g., Whisper) to generate highly accurate, time-stamped textual data.</a:t>
            </a:r>
            <a:endParaRPr/>
          </a:p>
        </p:txBody>
      </p:sp>
      <p:pic>
        <p:nvPicPr>
          <p:cNvPr id="117" name="Google Shape;117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0" y="257175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5290899" y="3571875"/>
            <a:ext cx="1610201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Slide Parsing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4676775" y="4038600"/>
            <a:ext cx="2838450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Programmatically parse the PDF lecture slides to extract text arrays, metadata, and concepts, indexing them securely by specific page numbers.</a:t>
            </a:r>
            <a:endParaRPr/>
          </a:p>
        </p:txBody>
      </p:sp>
      <p:pic>
        <p:nvPicPr>
          <p:cNvPr id="120" name="Google Shape;120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25000" y="257175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/>
          <p:nvPr/>
        </p:nvSpPr>
        <p:spPr>
          <a:xfrm>
            <a:off x="9085897" y="3571875"/>
            <a:ext cx="1640205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AI Alignment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8486775" y="4038600"/>
            <a:ext cx="2838450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Utilize an LLM to analyze the transcript against the parsed slides, mapping spoken concepts to written bullet points to extract unseen context.</a:t>
            </a:r>
            <a:endParaRPr/>
          </a:p>
        </p:txBody>
      </p:sp>
      <p:pic>
        <p:nvPicPr>
          <p:cNvPr id="123" name="Google Shape;123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157412" y="2781300"/>
            <a:ext cx="25717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924550" y="278130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734550" y="2781300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The Proposed </a:t>
            </a:r>
            <a:r>
              <a:rPr lang="en-US" sz="360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Solution Architecture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571500" y="57150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Clarifying Our </a:t>
            </a:r>
            <a:r>
              <a:rPr lang="en-US" sz="3600" b="0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Scope &amp; Non-Goals</a:t>
            </a:r>
            <a:endParaRPr sz="3600" b="0">
              <a:solidFill>
                <a:srgbClr val="F8FAFC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grpSp>
        <p:nvGrpSpPr>
          <p:cNvPr id="133" name="Google Shape;133;p17"/>
          <p:cNvGrpSpPr/>
          <p:nvPr/>
        </p:nvGrpSpPr>
        <p:grpSpPr>
          <a:xfrm>
            <a:off x="571500" y="1905000"/>
            <a:ext cx="5143500" cy="1905000"/>
            <a:chOff x="0" y="0"/>
            <a:chExt cx="5143500" cy="1905000"/>
          </a:xfrm>
        </p:grpSpPr>
        <p:sp>
          <p:nvSpPr>
            <p:cNvPr id="134" name="Google Shape;134;p17"/>
            <p:cNvSpPr/>
            <p:nvPr/>
          </p:nvSpPr>
          <p:spPr>
            <a:xfrm>
              <a:off x="0" y="0"/>
              <a:ext cx="5143500" cy="1905000"/>
            </a:xfrm>
            <a:prstGeom prst="roundRect">
              <a:avLst>
                <a:gd name="adj" fmla="val 8000"/>
              </a:avLst>
            </a:prstGeom>
            <a:solidFill>
              <a:srgbClr val="1E293B">
                <a:alpha val="60000"/>
              </a:srgbClr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7"/>
            <p:cNvSpPr txBox="1"/>
            <p:nvPr/>
          </p:nvSpPr>
          <p:spPr>
            <a:xfrm>
              <a:off x="285750" y="28575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36" name="Google Shape;136;p17"/>
            <p:cNvSpPr txBox="1"/>
            <p:nvPr/>
          </p:nvSpPr>
          <p:spPr>
            <a:xfrm>
              <a:off x="1047750" y="285750"/>
              <a:ext cx="3810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dirty="0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Not Generative Content</a:t>
              </a:r>
              <a:endParaRPr sz="2000" b="1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We are not creating information from the AI's internal knowledge. Every insight is anchored directly in the provided lecture video, audio transcript, or slides.</a:t>
              </a:r>
              <a:endParaRPr sz="1400" b="0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137" name="Google Shape;137;p17"/>
          <p:cNvGrpSpPr/>
          <p:nvPr/>
        </p:nvGrpSpPr>
        <p:grpSpPr>
          <a:xfrm>
            <a:off x="571500" y="4000500"/>
            <a:ext cx="5143500" cy="1905000"/>
            <a:chOff x="0" y="0"/>
            <a:chExt cx="5143500" cy="1905000"/>
          </a:xfrm>
        </p:grpSpPr>
        <p:sp>
          <p:nvSpPr>
            <p:cNvPr id="138" name="Google Shape;138;p17"/>
            <p:cNvSpPr/>
            <p:nvPr/>
          </p:nvSpPr>
          <p:spPr>
            <a:xfrm>
              <a:off x="0" y="0"/>
              <a:ext cx="5143500" cy="1905000"/>
            </a:xfrm>
            <a:prstGeom prst="roundRect">
              <a:avLst>
                <a:gd name="adj" fmla="val 8000"/>
              </a:avLst>
            </a:prstGeom>
            <a:solidFill>
              <a:srgbClr val="1E293B">
                <a:alpha val="60000"/>
              </a:srgbClr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7"/>
            <p:cNvSpPr txBox="1"/>
            <p:nvPr/>
          </p:nvSpPr>
          <p:spPr>
            <a:xfrm>
              <a:off x="285750" y="285750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40" name="Google Shape;140;p17"/>
            <p:cNvSpPr txBox="1"/>
            <p:nvPr/>
          </p:nvSpPr>
          <p:spPr>
            <a:xfrm>
              <a:off x="1047750" y="285750"/>
              <a:ext cx="38100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dirty="0">
                  <a:solidFill>
                    <a:srgbClr val="F8FAFC"/>
                  </a:solidFill>
                  <a:latin typeface="Urbanist"/>
                  <a:ea typeface="Urbanist"/>
                  <a:cs typeface="Urbanist"/>
                  <a:sym typeface="Urbanist"/>
                </a:rPr>
                <a:t>Not Just a Summary</a:t>
              </a:r>
              <a:endParaRPr sz="2000" b="1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94A3B8"/>
                  </a:solidFill>
                  <a:latin typeface="Urbanist"/>
                  <a:ea typeface="Urbanist"/>
                  <a:cs typeface="Urbanist"/>
                  <a:sym typeface="Urbanist"/>
                </a:rPr>
                <a:t>Our goal is not to shorten the material, but to contextualize it—mapping verbal explanations back to static slide points to provide a unified primary resource.</a:t>
              </a:r>
              <a:endParaRPr sz="1400" b="0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pic>
        <p:nvPicPr>
          <p:cNvPr id="141" name="Google Shape;141;p17" descr="A clean, minimalist high-tech workspace showing a digital interface where video frames, audio waveforms, and PDF documents are being linked together by glowing neural lines, emphasizing primary data over AI hallucination, dark navy and cyan theme."/>
          <p:cNvPicPr preferRelativeResize="0"/>
          <p:nvPr/>
        </p:nvPicPr>
        <p:blipFill rotWithShape="1">
          <a:blip r:embed="rId4">
            <a:alphaModFix/>
          </a:blip>
          <a:srcRect l="5357" r="5357"/>
          <a:stretch/>
        </p:blipFill>
        <p:spPr>
          <a:xfrm>
            <a:off x="6858000" y="1905000"/>
            <a:ext cx="4762500" cy="4000500"/>
          </a:xfrm>
          <a:prstGeom prst="roundRect">
            <a:avLst>
              <a:gd name="adj" fmla="val 3809"/>
            </a:avLst>
          </a:prstGeom>
          <a:noFill/>
          <a:ln>
            <a:noFill/>
          </a:ln>
        </p:spPr>
      </p:pic>
      <p:sp>
        <p:nvSpPr>
          <p:cNvPr id="142" name="Google Shape;142;p17"/>
          <p:cNvSpPr/>
          <p:nvPr/>
        </p:nvSpPr>
        <p:spPr>
          <a:xfrm>
            <a:off x="6858000" y="1905000"/>
            <a:ext cx="4762500" cy="4000500"/>
          </a:xfrm>
          <a:prstGeom prst="roundRect">
            <a:avLst>
              <a:gd name="adj" fmla="val 3809"/>
            </a:avLst>
          </a:prstGeom>
          <a:solidFill>
            <a:srgbClr val="000000">
              <a:alpha val="0"/>
            </a:srgbClr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515D3C-1895-C397-048B-D18CF358EF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338" y="2148779"/>
            <a:ext cx="594412" cy="4724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052F37F-3540-6A04-430C-DA117B4FB2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794" y="4207486"/>
            <a:ext cx="594412" cy="5563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17"/>
          <p:cNvGrpSpPr/>
          <p:nvPr/>
        </p:nvGrpSpPr>
        <p:grpSpPr>
          <a:xfrm>
            <a:off x="571500" y="2095500"/>
            <a:ext cx="11049150" cy="4000500"/>
            <a:chOff x="571500" y="2095500"/>
            <a:chExt cx="11049150" cy="4000500"/>
          </a:xfrm>
        </p:grpSpPr>
        <p:sp>
          <p:nvSpPr>
            <p:cNvPr id="132" name="Google Shape;132;p17"/>
            <p:cNvSpPr/>
            <p:nvPr/>
          </p:nvSpPr>
          <p:spPr>
            <a:xfrm>
              <a:off x="6191250" y="2095500"/>
              <a:ext cx="5429400" cy="4000500"/>
            </a:xfrm>
            <a:prstGeom prst="roundRect">
              <a:avLst>
                <a:gd name="adj" fmla="val 4761"/>
              </a:avLst>
            </a:prstGeom>
            <a:solidFill>
              <a:srgbClr val="1E293B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133" name="Google Shape;133;p17" descr="A futuristic, high-tech magnifying glass hovering over a digital document, glowing blue light revealing hidden text underneath, cinematic lighting, 8k, professional design."/>
            <p:cNvPicPr preferRelativeResize="0"/>
            <p:nvPr/>
          </p:nvPicPr>
          <p:blipFill rotWithShape="1">
            <a:blip r:embed="rId3">
              <a:alphaModFix/>
            </a:blip>
            <a:srcRect t="874" b="884"/>
            <a:stretch/>
          </p:blipFill>
          <p:spPr>
            <a:xfrm>
              <a:off x="6191250" y="2095500"/>
              <a:ext cx="5429400" cy="4000500"/>
            </a:xfrm>
            <a:prstGeom prst="roundRect">
              <a:avLst>
                <a:gd name="adj" fmla="val 4761"/>
              </a:avLst>
            </a:prstGeom>
            <a:noFill/>
            <a:ln>
              <a:noFill/>
            </a:ln>
          </p:spPr>
        </p:pic>
        <p:grpSp>
          <p:nvGrpSpPr>
            <p:cNvPr id="134" name="Google Shape;134;p17"/>
            <p:cNvGrpSpPr/>
            <p:nvPr/>
          </p:nvGrpSpPr>
          <p:grpSpPr>
            <a:xfrm>
              <a:off x="571500" y="2095500"/>
              <a:ext cx="5238900" cy="4000500"/>
              <a:chOff x="571500" y="2095500"/>
              <a:chExt cx="5238900" cy="4000500"/>
            </a:xfrm>
          </p:grpSpPr>
          <p:grpSp>
            <p:nvGrpSpPr>
              <p:cNvPr id="135" name="Google Shape;135;p17"/>
              <p:cNvGrpSpPr/>
              <p:nvPr/>
            </p:nvGrpSpPr>
            <p:grpSpPr>
              <a:xfrm>
                <a:off x="571500" y="2095500"/>
                <a:ext cx="5238900" cy="1143000"/>
                <a:chOff x="571500" y="2095500"/>
                <a:chExt cx="5238900" cy="1143000"/>
              </a:xfrm>
            </p:grpSpPr>
            <p:sp>
              <p:nvSpPr>
                <p:cNvPr id="136" name="Google Shape;136;p17"/>
                <p:cNvSpPr/>
                <p:nvPr/>
              </p:nvSpPr>
              <p:spPr>
                <a:xfrm>
                  <a:off x="571500" y="2095500"/>
                  <a:ext cx="5238900" cy="1143000"/>
                </a:xfrm>
                <a:prstGeom prst="roundRect">
                  <a:avLst>
                    <a:gd name="adj" fmla="val 10000"/>
                  </a:avLst>
                </a:prstGeom>
                <a:solidFill>
                  <a:srgbClr val="1E293B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37" name="Google Shape;137;p17"/>
                <p:cNvSpPr txBox="1"/>
                <p:nvPr/>
              </p:nvSpPr>
              <p:spPr>
                <a:xfrm>
                  <a:off x="809625" y="2095500"/>
                  <a:ext cx="4762500" cy="1143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 b="1">
                      <a:solidFill>
                        <a:srgbClr val="38BDF8"/>
                      </a:solidFill>
                      <a:latin typeface="Urbanist"/>
                      <a:ea typeface="Urbanist"/>
                      <a:cs typeface="Urbanist"/>
                      <a:sym typeface="Urbanist"/>
                    </a:rPr>
                    <a:t>Intelligent Prompting</a:t>
                  </a:r>
                  <a:endParaRPr sz="1800" b="1">
                    <a:solidFill>
                      <a:srgbClr val="38BDF8"/>
                    </a:solidFill>
                    <a:latin typeface="Urbanist"/>
                    <a:ea typeface="Urbanist"/>
                    <a:cs typeface="Urbanist"/>
                    <a:sym typeface="Urbanist"/>
                  </a:endParaRPr>
                </a:p>
                <a:p>
                  <a:pPr marL="0" lvl="0" indent="0" algn="l" rtl="0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en-US" sz="1400" b="0">
                      <a:solidFill>
                        <a:srgbClr val="CBD5E1"/>
                      </a:solidFill>
                      <a:latin typeface="Urbanist"/>
                      <a:ea typeface="Urbanist"/>
                      <a:cs typeface="Urbanist"/>
                      <a:sym typeface="Urbanist"/>
                    </a:rPr>
                    <a:t>The true innovation lies in going beyond basic summarization. We are mining the video for unique insights.</a:t>
                  </a:r>
                  <a:endParaRPr sz="1400" b="0">
                    <a:solidFill>
                      <a:srgbClr val="CBD5E1"/>
                    </a:solidFill>
                    <a:latin typeface="Urbanist"/>
                    <a:ea typeface="Urbanist"/>
                    <a:cs typeface="Urbanist"/>
                    <a:sym typeface="Urbanist"/>
                  </a:endParaRPr>
                </a:p>
              </p:txBody>
            </p:sp>
          </p:grpSp>
          <p:grpSp>
            <p:nvGrpSpPr>
              <p:cNvPr id="138" name="Google Shape;138;p17"/>
              <p:cNvGrpSpPr/>
              <p:nvPr/>
            </p:nvGrpSpPr>
            <p:grpSpPr>
              <a:xfrm>
                <a:off x="571500" y="3429000"/>
                <a:ext cx="5238900" cy="1143000"/>
                <a:chOff x="571500" y="3429000"/>
                <a:chExt cx="5238900" cy="1143000"/>
              </a:xfrm>
            </p:grpSpPr>
            <p:sp>
              <p:nvSpPr>
                <p:cNvPr id="139" name="Google Shape;139;p17"/>
                <p:cNvSpPr/>
                <p:nvPr/>
              </p:nvSpPr>
              <p:spPr>
                <a:xfrm>
                  <a:off x="571500" y="3429000"/>
                  <a:ext cx="5238900" cy="1143000"/>
                </a:xfrm>
                <a:prstGeom prst="roundRect">
                  <a:avLst>
                    <a:gd name="adj" fmla="val 10000"/>
                  </a:avLst>
                </a:prstGeom>
                <a:solidFill>
                  <a:srgbClr val="1E293B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0" name="Google Shape;140;p17"/>
                <p:cNvSpPr txBox="1"/>
                <p:nvPr/>
              </p:nvSpPr>
              <p:spPr>
                <a:xfrm>
                  <a:off x="809625" y="3429000"/>
                  <a:ext cx="4762500" cy="1143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 b="1">
                      <a:solidFill>
                        <a:srgbClr val="38BDF8"/>
                      </a:solidFill>
                      <a:latin typeface="Urbanist"/>
                      <a:ea typeface="Urbanist"/>
                      <a:cs typeface="Urbanist"/>
                      <a:sym typeface="Urbanist"/>
                    </a:rPr>
                    <a:t>Identifying the Gap</a:t>
                  </a:r>
                  <a:endParaRPr sz="1800" b="1">
                    <a:solidFill>
                      <a:srgbClr val="38BDF8"/>
                    </a:solidFill>
                    <a:latin typeface="Urbanist"/>
                    <a:ea typeface="Urbanist"/>
                    <a:cs typeface="Urbanist"/>
                    <a:sym typeface="Urbanist"/>
                  </a:endParaRPr>
                </a:p>
                <a:p>
                  <a:pPr marL="0" lvl="0" indent="0" algn="l" rtl="0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en-US" sz="1400" b="0">
                      <a:solidFill>
                        <a:srgbClr val="CBD5E1"/>
                      </a:solidFill>
                      <a:latin typeface="Urbanist"/>
                      <a:ea typeface="Urbanist"/>
                      <a:cs typeface="Urbanist"/>
                      <a:sym typeface="Urbanist"/>
                    </a:rPr>
                    <a:t>The AI hunts for info that is </a:t>
                  </a:r>
                  <a:r>
                    <a:rPr lang="en-US" sz="1400" b="0">
                      <a:solidFill>
                        <a:srgbClr val="F8FAFC"/>
                      </a:solidFill>
                      <a:latin typeface="Urbanist SemiBold"/>
                      <a:ea typeface="Urbanist SemiBold"/>
                      <a:cs typeface="Urbanist SemiBold"/>
                      <a:sym typeface="Urbanist SemiBold"/>
                    </a:rPr>
                    <a:t>verbally spoken</a:t>
                  </a:r>
                  <a:r>
                    <a:rPr lang="en-US" sz="1400" b="0">
                      <a:solidFill>
                        <a:srgbClr val="CBD5E1"/>
                      </a:solidFill>
                      <a:latin typeface="Urbanist"/>
                      <a:ea typeface="Urbanist"/>
                      <a:cs typeface="Urbanist"/>
                      <a:sym typeface="Urbanist"/>
                    </a:rPr>
                    <a:t> but </a:t>
                  </a:r>
                  <a:r>
                    <a:rPr lang="en-US" sz="1400" b="0">
                      <a:solidFill>
                        <a:srgbClr val="F8FAFC"/>
                      </a:solidFill>
                      <a:latin typeface="Urbanist SemiBold"/>
                      <a:ea typeface="Urbanist SemiBold"/>
                      <a:cs typeface="Urbanist SemiBold"/>
                      <a:sym typeface="Urbanist SemiBold"/>
                    </a:rPr>
                    <a:t>distinctly absent</a:t>
                  </a:r>
                  <a:r>
                    <a:rPr lang="en-US" sz="1400" b="0">
                      <a:solidFill>
                        <a:srgbClr val="CBD5E1"/>
                      </a:solidFill>
                      <a:latin typeface="Urbanist"/>
                      <a:ea typeface="Urbanist"/>
                      <a:cs typeface="Urbanist"/>
                      <a:sym typeface="Urbanist"/>
                    </a:rPr>
                    <a:t> from the slide text.</a:t>
                  </a:r>
                  <a:endParaRPr sz="1400" b="0">
                    <a:solidFill>
                      <a:srgbClr val="CBD5E1"/>
                    </a:solidFill>
                    <a:latin typeface="Urbanist"/>
                    <a:ea typeface="Urbanist"/>
                    <a:cs typeface="Urbanist"/>
                    <a:sym typeface="Urbanist"/>
                  </a:endParaRPr>
                </a:p>
              </p:txBody>
            </p:sp>
          </p:grpSp>
          <p:grpSp>
            <p:nvGrpSpPr>
              <p:cNvPr id="141" name="Google Shape;141;p17"/>
              <p:cNvGrpSpPr/>
              <p:nvPr/>
            </p:nvGrpSpPr>
            <p:grpSpPr>
              <a:xfrm>
                <a:off x="571500" y="4762500"/>
                <a:ext cx="5238900" cy="1333500"/>
                <a:chOff x="571500" y="4762500"/>
                <a:chExt cx="5238900" cy="1333500"/>
              </a:xfrm>
            </p:grpSpPr>
            <p:sp>
              <p:nvSpPr>
                <p:cNvPr id="142" name="Google Shape;142;p17"/>
                <p:cNvSpPr/>
                <p:nvPr/>
              </p:nvSpPr>
              <p:spPr>
                <a:xfrm>
                  <a:off x="571500" y="4762500"/>
                  <a:ext cx="5238900" cy="1333500"/>
                </a:xfrm>
                <a:prstGeom prst="roundRect">
                  <a:avLst>
                    <a:gd name="adj" fmla="val 8571"/>
                  </a:avLst>
                </a:prstGeom>
                <a:solidFill>
                  <a:srgbClr val="1E293B"/>
                </a:solidFill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43" name="Google Shape;143;p17"/>
                <p:cNvSpPr txBox="1"/>
                <p:nvPr/>
              </p:nvSpPr>
              <p:spPr>
                <a:xfrm>
                  <a:off x="809625" y="4762500"/>
                  <a:ext cx="4762500" cy="1333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0" tIns="0" rIns="0" bIns="0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 b="1">
                      <a:solidFill>
                        <a:srgbClr val="38BDF8"/>
                      </a:solidFill>
                      <a:latin typeface="Urbanist"/>
                      <a:ea typeface="Urbanist"/>
                      <a:cs typeface="Urbanist"/>
                      <a:sym typeface="Urbanist"/>
                    </a:rPr>
                    <a:t>Instructor Cues</a:t>
                  </a:r>
                  <a:endParaRPr sz="1800" b="1">
                    <a:solidFill>
                      <a:srgbClr val="38BDF8"/>
                    </a:solidFill>
                    <a:latin typeface="Urbanist"/>
                    <a:ea typeface="Urbanist"/>
                    <a:cs typeface="Urbanist"/>
                    <a:sym typeface="Urbanist"/>
                  </a:endParaRPr>
                </a:p>
                <a:p>
                  <a:pPr marL="0" lvl="0" indent="0" algn="l" rtl="0">
                    <a:spcBef>
                      <a:spcPts val="600"/>
                    </a:spcBef>
                    <a:spcAft>
                      <a:spcPts val="0"/>
                    </a:spcAft>
                    <a:buNone/>
                  </a:pPr>
                  <a:r>
                    <a:rPr lang="en-US" sz="1400" b="0">
                      <a:solidFill>
                        <a:srgbClr val="CBD5E1"/>
                      </a:solidFill>
                      <a:latin typeface="Urbanist"/>
                      <a:ea typeface="Urbanist"/>
                      <a:cs typeface="Urbanist"/>
                      <a:sym typeface="Urbanist"/>
                    </a:rPr>
                    <a:t>Capturing high-priority cues like </a:t>
                  </a:r>
                  <a:r>
                    <a:rPr lang="en-US" sz="1400" b="0" i="1">
                      <a:solidFill>
                        <a:srgbClr val="CBD5E1"/>
                      </a:solidFill>
                      <a:latin typeface="Urbanist"/>
                      <a:ea typeface="Urbanist"/>
                      <a:cs typeface="Urbanist"/>
                      <a:sym typeface="Urbanist"/>
                    </a:rPr>
                    <a:t>"this is important"</a:t>
                  </a:r>
                  <a:r>
                    <a:rPr lang="en-US" sz="1400" b="0">
                      <a:solidFill>
                        <a:srgbClr val="CBD5E1"/>
                      </a:solidFill>
                      <a:latin typeface="Urbanist"/>
                      <a:ea typeface="Urbanist"/>
                      <a:cs typeface="Urbanist"/>
                      <a:sym typeface="Urbanist"/>
                    </a:rPr>
                    <a:t> or exam hints as student annotations.</a:t>
                  </a:r>
                  <a:endParaRPr sz="1400" b="0">
                    <a:solidFill>
                      <a:srgbClr val="CBD5E1"/>
                    </a:solidFill>
                    <a:latin typeface="Urbanist"/>
                    <a:ea typeface="Urbanist"/>
                    <a:cs typeface="Urbanist"/>
                    <a:sym typeface="Urbanist"/>
                  </a:endParaRPr>
                </a:p>
              </p:txBody>
            </p:sp>
          </p:grpSp>
        </p:grpSp>
      </p:grpSp>
      <p:sp>
        <p:nvSpPr>
          <p:cNvPr id="144" name="Google Shape;144;p17"/>
          <p:cNvSpPr txBox="1"/>
          <p:nvPr/>
        </p:nvSpPr>
        <p:spPr>
          <a:xfrm>
            <a:off x="571500" y="571500"/>
            <a:ext cx="11049000" cy="64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0" i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Extracting the </a:t>
            </a:r>
            <a:r>
              <a:rPr lang="en-US" sz="4200" b="0" i="0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"Hidden Notes"</a:t>
            </a:r>
            <a:endParaRPr sz="4200" b="0" i="0">
              <a:solidFill>
                <a:srgbClr val="F8FAFC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8" name="Google Shape;138;p18"/>
          <p:cNvGrpSpPr/>
          <p:nvPr/>
        </p:nvGrpSpPr>
        <p:grpSpPr>
          <a:xfrm>
            <a:off x="571500" y="571500"/>
            <a:ext cx="11049000" cy="847725"/>
            <a:chOff x="0" y="0"/>
            <a:chExt cx="11049000" cy="847725"/>
          </a:xfrm>
        </p:grpSpPr>
        <p:sp>
          <p:nvSpPr>
            <p:cNvPr id="139" name="Google Shape;139;p18"/>
            <p:cNvSpPr txBox="1"/>
            <p:nvPr/>
          </p:nvSpPr>
          <p:spPr>
            <a:xfrm>
              <a:off x="0" y="0"/>
              <a:ext cx="11049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 b="0">
                  <a:solidFill>
                    <a:srgbClr val="F8FAFC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Core Library </a:t>
              </a:r>
              <a:r>
                <a:rPr lang="en-US" sz="4400" b="0">
                  <a:solidFill>
                    <a:srgbClr val="38BDF8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Stack</a:t>
              </a:r>
              <a:endParaRPr sz="4400" b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sp>
          <p:nvSpPr>
            <p:cNvPr id="140" name="Google Shape;140;p18"/>
            <p:cNvSpPr/>
            <p:nvPr/>
          </p:nvSpPr>
          <p:spPr>
            <a:xfrm>
              <a:off x="0" y="809625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38BDF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1" name="Google Shape;141;p18"/>
          <p:cNvGrpSpPr/>
          <p:nvPr/>
        </p:nvGrpSpPr>
        <p:grpSpPr>
          <a:xfrm>
            <a:off x="571500" y="2095500"/>
            <a:ext cx="3429000" cy="4000500"/>
            <a:chOff x="0" y="0"/>
            <a:chExt cx="3429000" cy="4000500"/>
          </a:xfrm>
        </p:grpSpPr>
        <p:sp>
          <p:nvSpPr>
            <p:cNvPr id="142" name="Google Shape;142;p18"/>
            <p:cNvSpPr/>
            <p:nvPr/>
          </p:nvSpPr>
          <p:spPr>
            <a:xfrm>
              <a:off x="0" y="0"/>
              <a:ext cx="3429000" cy="4000500"/>
            </a:xfrm>
            <a:prstGeom prst="roundRect">
              <a:avLst>
                <a:gd name="adj" fmla="val 4444"/>
              </a:avLst>
            </a:prstGeom>
            <a:solidFill>
              <a:srgbClr val="1E293B">
                <a:alpha val="60000"/>
              </a:srgbClr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8"/>
            <p:cNvSpPr txBox="1"/>
            <p:nvPr/>
          </p:nvSpPr>
          <p:spPr>
            <a:xfrm>
              <a:off x="322580" y="280913"/>
              <a:ext cx="2857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dirty="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44" name="Google Shape;144;p18"/>
            <p:cNvSpPr txBox="1"/>
            <p:nvPr/>
          </p:nvSpPr>
          <p:spPr>
            <a:xfrm>
              <a:off x="285750" y="857250"/>
              <a:ext cx="285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dirty="0">
                  <a:solidFill>
                    <a:srgbClr val="38BDF8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OpenAI API Wrapper</a:t>
              </a:r>
              <a:endParaRPr sz="1800" b="0" dirty="0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sp>
          <p:nvSpPr>
            <p:cNvPr id="145" name="Google Shape;145;p18"/>
            <p:cNvSpPr txBox="1"/>
            <p:nvPr/>
          </p:nvSpPr>
          <p:spPr>
            <a:xfrm>
              <a:off x="285750" y="1333500"/>
              <a:ext cx="28575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A highly resilient, multi-threaded client used to interface with Gemini Flash. It handles rate-limiting, exponential backoffs, and ensures reliable communication with the AI models.</a:t>
              </a:r>
              <a:endParaRPr sz="14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146" name="Google Shape;146;p18"/>
          <p:cNvGrpSpPr/>
          <p:nvPr/>
        </p:nvGrpSpPr>
        <p:grpSpPr>
          <a:xfrm>
            <a:off x="4381500" y="2095500"/>
            <a:ext cx="3429000" cy="4000500"/>
            <a:chOff x="0" y="0"/>
            <a:chExt cx="3429000" cy="4000500"/>
          </a:xfrm>
        </p:grpSpPr>
        <p:sp>
          <p:nvSpPr>
            <p:cNvPr id="147" name="Google Shape;147;p18"/>
            <p:cNvSpPr/>
            <p:nvPr/>
          </p:nvSpPr>
          <p:spPr>
            <a:xfrm>
              <a:off x="0" y="0"/>
              <a:ext cx="3429000" cy="4000500"/>
            </a:xfrm>
            <a:prstGeom prst="roundRect">
              <a:avLst>
                <a:gd name="adj" fmla="val 4444"/>
              </a:avLst>
            </a:prstGeom>
            <a:solidFill>
              <a:srgbClr val="1E293B">
                <a:alpha val="60000"/>
              </a:srgbClr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8"/>
            <p:cNvSpPr txBox="1"/>
            <p:nvPr/>
          </p:nvSpPr>
          <p:spPr>
            <a:xfrm>
              <a:off x="285750" y="326644"/>
              <a:ext cx="2857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dirty="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49" name="Google Shape;149;p18"/>
            <p:cNvSpPr txBox="1"/>
            <p:nvPr/>
          </p:nvSpPr>
          <p:spPr>
            <a:xfrm>
              <a:off x="285750" y="857250"/>
              <a:ext cx="285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 dirty="0" err="1">
                  <a:solidFill>
                    <a:srgbClr val="38BDF8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PyMuPDF</a:t>
              </a:r>
              <a:endParaRPr sz="1800" b="0" dirty="0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sp>
          <p:nvSpPr>
            <p:cNvPr id="150" name="Google Shape;150;p18"/>
            <p:cNvSpPr txBox="1"/>
            <p:nvPr/>
          </p:nvSpPr>
          <p:spPr>
            <a:xfrm>
              <a:off x="285750" y="1333500"/>
              <a:ext cx="28575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The primary tool for programmatic PDF parsing. It extracts raw text and metadata from lecture slides, allowing for precise indexing by page number for the AI alignment process.</a:t>
              </a:r>
              <a:endParaRPr sz="14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151" name="Google Shape;151;p18"/>
          <p:cNvGrpSpPr/>
          <p:nvPr/>
        </p:nvGrpSpPr>
        <p:grpSpPr>
          <a:xfrm>
            <a:off x="8191500" y="2095500"/>
            <a:ext cx="3429000" cy="4000500"/>
            <a:chOff x="0" y="0"/>
            <a:chExt cx="3429000" cy="4000500"/>
          </a:xfrm>
        </p:grpSpPr>
        <p:sp>
          <p:nvSpPr>
            <p:cNvPr id="152" name="Google Shape;152;p18"/>
            <p:cNvSpPr/>
            <p:nvPr/>
          </p:nvSpPr>
          <p:spPr>
            <a:xfrm>
              <a:off x="0" y="0"/>
              <a:ext cx="3429000" cy="4000500"/>
            </a:xfrm>
            <a:prstGeom prst="roundRect">
              <a:avLst>
                <a:gd name="adj" fmla="val 4444"/>
              </a:avLst>
            </a:prstGeom>
            <a:solidFill>
              <a:srgbClr val="1E293B">
                <a:alpha val="60000"/>
              </a:srgbClr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8"/>
            <p:cNvSpPr txBox="1"/>
            <p:nvPr/>
          </p:nvSpPr>
          <p:spPr>
            <a:xfrm>
              <a:off x="285750" y="326644"/>
              <a:ext cx="2857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dirty="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54" name="Google Shape;154;p18"/>
            <p:cNvSpPr txBox="1"/>
            <p:nvPr/>
          </p:nvSpPr>
          <p:spPr>
            <a:xfrm>
              <a:off x="285750" y="857250"/>
              <a:ext cx="2857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b="0">
                  <a:solidFill>
                    <a:srgbClr val="38BDF8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Streamlit</a:t>
              </a:r>
              <a:endParaRPr sz="1800" b="0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sp>
          <p:nvSpPr>
            <p:cNvPr id="155" name="Google Shape;155;p18"/>
            <p:cNvSpPr txBox="1"/>
            <p:nvPr/>
          </p:nvSpPr>
          <p:spPr>
            <a:xfrm>
              <a:off x="285750" y="1333500"/>
              <a:ext cx="2857500" cy="2381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The framework for building the side-by-side user interface. It renders the original PDF slides alongside AI-generated notes and supports interactive chat and search features.</a:t>
              </a:r>
              <a:endParaRPr sz="14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FC53324-8D63-467A-2DE6-BAB2E053AA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7674" y="2397892"/>
            <a:ext cx="525826" cy="4953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7E7E3B-60D2-E8FB-BF4C-27E79FA36FD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30370" y="2367938"/>
            <a:ext cx="579170" cy="5334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965EC1-4F07-0BDF-C45F-21578783B6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9417" y="2422144"/>
            <a:ext cx="548688" cy="5563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76462"/>
            <a:ext cx="11049000" cy="3629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1" name="Google Shape;151;p18"/>
          <p:cNvGraphicFramePr/>
          <p:nvPr/>
        </p:nvGraphicFramePr>
        <p:xfrm>
          <a:off x="581025" y="2185987"/>
          <a:ext cx="11029950" cy="3609925"/>
        </p:xfrm>
        <a:graphic>
          <a:graphicData uri="http://schemas.openxmlformats.org/drawingml/2006/table">
            <a:tbl>
              <a:tblPr firstRow="1" bandRow="1">
                <a:noFill/>
                <a:tableStyleId>{1DEABB10-7D22-451A-91CD-F6D019F75A3C}</a:tableStyleId>
              </a:tblPr>
              <a:tblGrid>
                <a:gridCol w="183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9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16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1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Component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Technology Choice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Cost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Primary Purpose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8BD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Core Logic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Python 3.10+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$0.00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Backbone orchestration and file handling.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Transcription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OpenAI Whisper (Local)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$0.00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Offline generation of timestamped audio text.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PDF Parsing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PyMuPDF (fitz)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$0.00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Extracting raw text mapped to specific slide numbers.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1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AI Brain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Gemini 2.5/3.0 Flash API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$0.00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Contextual alignment and "Hidden Note" extraction.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1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User Interface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Streamlit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$0.00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Rendering side-by-side view of PDFs and AI Notes.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2" name="Google Shape;152;p18"/>
          <p:cNvSpPr/>
          <p:nvPr/>
        </p:nvSpPr>
        <p:spPr>
          <a:xfrm>
            <a:off x="581025" y="2790825"/>
            <a:ext cx="183639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2417415" y="2790825"/>
            <a:ext cx="26795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5096916" y="2790825"/>
            <a:ext cx="109716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6194077" y="2790825"/>
            <a:ext cx="541689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581025" y="3390900"/>
            <a:ext cx="183639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2417415" y="3390900"/>
            <a:ext cx="26795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5096916" y="3390900"/>
            <a:ext cx="109716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/>
          <p:nvPr/>
        </p:nvSpPr>
        <p:spPr>
          <a:xfrm>
            <a:off x="6194077" y="3390900"/>
            <a:ext cx="541689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8"/>
          <p:cNvSpPr/>
          <p:nvPr/>
        </p:nvSpPr>
        <p:spPr>
          <a:xfrm>
            <a:off x="581025" y="3990975"/>
            <a:ext cx="183639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2417415" y="3990975"/>
            <a:ext cx="26795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5096916" y="3990975"/>
            <a:ext cx="109716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6194077" y="3990975"/>
            <a:ext cx="541689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581025" y="4591050"/>
            <a:ext cx="183639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/>
          <p:nvPr/>
        </p:nvSpPr>
        <p:spPr>
          <a:xfrm>
            <a:off x="2417415" y="4591050"/>
            <a:ext cx="26795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5096916" y="4591050"/>
            <a:ext cx="109716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6194077" y="4591050"/>
            <a:ext cx="541689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581025" y="5191125"/>
            <a:ext cx="183639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2417415" y="5191125"/>
            <a:ext cx="267950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5096916" y="5191125"/>
            <a:ext cx="109716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6194077" y="5191125"/>
            <a:ext cx="541689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571500" y="571500"/>
            <a:ext cx="116014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Proposed </a:t>
            </a:r>
            <a:r>
              <a:rPr lang="en-US" sz="360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Tech Stack</a:t>
            </a:r>
            <a:r>
              <a:rPr lang="en-US" sz="36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 (100% Free)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8" name="Google Shape;178;p19"/>
          <p:cNvGrpSpPr/>
          <p:nvPr/>
        </p:nvGrpSpPr>
        <p:grpSpPr>
          <a:xfrm>
            <a:off x="571500" y="1809750"/>
            <a:ext cx="5381700" cy="4476900"/>
            <a:chOff x="0" y="0"/>
            <a:chExt cx="5381700" cy="4476900"/>
          </a:xfrm>
        </p:grpSpPr>
        <p:sp>
          <p:nvSpPr>
            <p:cNvPr id="179" name="Google Shape;179;p19"/>
            <p:cNvSpPr/>
            <p:nvPr/>
          </p:nvSpPr>
          <p:spPr>
            <a:xfrm>
              <a:off x="0" y="0"/>
              <a:ext cx="5381700" cy="4476900"/>
            </a:xfrm>
            <a:prstGeom prst="roundRect">
              <a:avLst>
                <a:gd name="adj" fmla="val 3404"/>
              </a:avLst>
            </a:prstGeom>
            <a:solidFill>
              <a:srgbClr val="1E293B">
                <a:alpha val="60000"/>
              </a:srgbClr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19"/>
            <p:cNvSpPr txBox="1"/>
            <p:nvPr/>
          </p:nvSpPr>
          <p:spPr>
            <a:xfrm>
              <a:off x="381000" y="381000"/>
              <a:ext cx="46197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>
                  <a:solidFill>
                    <a:srgbClr val="F8FAFC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The "Snapshot" Approach</a:t>
              </a:r>
              <a:endParaRPr sz="2400" b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sp>
          <p:nvSpPr>
            <p:cNvPr id="181" name="Google Shape;181;p19"/>
            <p:cNvSpPr txBox="1"/>
            <p:nvPr/>
          </p:nvSpPr>
          <p:spPr>
            <a:xfrm>
              <a:off x="381000" y="1047750"/>
              <a:ext cx="4619700" cy="3429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F8FAFC"/>
                  </a:solidFill>
                  <a:highlight>
                    <a:srgbClr val="334155"/>
                  </a:highlight>
                  <a:latin typeface="Urbanist SemiBold"/>
                  <a:ea typeface="Urbanist SemiBold"/>
                  <a:cs typeface="Urbanist SemiBold"/>
                  <a:sym typeface="Urbanist SemiBold"/>
                </a:rPr>
                <a:t>Alternative Approach</a:t>
              </a:r>
              <a:endParaRPr sz="14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A proposed alternative to audio-only transcription that we </a:t>
              </a:r>
              <a:r>
                <a:rPr lang="en-US" sz="1400" b="0" dirty="0">
                  <a:solidFill>
                    <a:srgbClr val="F8FAFC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might</a:t>
              </a:r>
              <a:r>
                <a:rPr lang="en-US" sz="14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implement to leverage the full visual context of the lecture.</a:t>
              </a:r>
              <a:endParaRPr sz="14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-US" sz="1600" b="0" dirty="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timer</a:t>
              </a:r>
              <a:r>
                <a:rPr lang="en-US" sz="14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400" b="0" dirty="0">
                  <a:solidFill>
                    <a:srgbClr val="38BDF8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Temporal Sampling:</a:t>
              </a:r>
              <a:r>
                <a:rPr lang="en-US" sz="14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Video snapshots every 5-10 seconds capture whiteboards and non-verbal cues.</a:t>
              </a:r>
              <a:endParaRPr sz="14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1400" b="0" dirty="0">
                  <a:solidFill>
                    <a:srgbClr val="38BDF8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Structural Splitting:</a:t>
              </a:r>
              <a:r>
                <a:rPr lang="en-US" sz="14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Gemini API syncs frames with audio to auto-segment the transcript logically.</a:t>
              </a:r>
              <a:endParaRPr sz="14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rPr lang="en-US" sz="1600" b="0" dirty="0">
                  <a:solidFill>
                    <a:srgbClr val="38BDF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r>
                <a:rPr lang="en-US" sz="14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</a:t>
              </a:r>
              <a:r>
                <a:rPr lang="en-US" sz="1400" b="0" dirty="0">
                  <a:solidFill>
                    <a:srgbClr val="38BDF8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Detailed Feed:</a:t>
              </a:r>
              <a:r>
                <a:rPr lang="en-US" sz="140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Creates a rich dataset specifically optimized for downstream "AI Brain" processing.</a:t>
              </a:r>
              <a:endParaRPr sz="140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pic>
        <p:nvPicPr>
          <p:cNvPr id="182" name="Google Shape;182;p19" descr="A cinematic, high-tech visualization of a video player being sliced into individual frames with glowing connecting lines to an AI brain, blue and dark theme, 8k resolution, professional UI design."/>
          <p:cNvPicPr preferRelativeResize="0"/>
          <p:nvPr/>
        </p:nvPicPr>
        <p:blipFill rotWithShape="1">
          <a:blip r:embed="rId5">
            <a:alphaModFix/>
          </a:blip>
          <a:srcRect l="4923" r="4914"/>
          <a:stretch/>
        </p:blipFill>
        <p:spPr>
          <a:xfrm>
            <a:off x="6238875" y="1809750"/>
            <a:ext cx="5381700" cy="4476900"/>
          </a:xfrm>
          <a:prstGeom prst="roundRect">
            <a:avLst>
              <a:gd name="adj" fmla="val 3404"/>
            </a:avLst>
          </a:prstGeom>
          <a:noFill/>
          <a:ln>
            <a:noFill/>
          </a:ln>
        </p:spPr>
      </p:pic>
      <p:sp>
        <p:nvSpPr>
          <p:cNvPr id="183" name="Google Shape;183;p19"/>
          <p:cNvSpPr/>
          <p:nvPr/>
        </p:nvSpPr>
        <p:spPr>
          <a:xfrm>
            <a:off x="6238875" y="1809750"/>
            <a:ext cx="5381700" cy="4476900"/>
          </a:xfrm>
          <a:prstGeom prst="roundRect">
            <a:avLst>
              <a:gd name="adj" fmla="val 3404"/>
            </a:avLst>
          </a:prstGeom>
          <a:solidFill>
            <a:srgbClr val="000000">
              <a:alpha val="0"/>
            </a:srgbClr>
          </a:solidFill>
          <a:ln w="1905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4" name="Google Shape;184;p19"/>
          <p:cNvGrpSpPr/>
          <p:nvPr/>
        </p:nvGrpSpPr>
        <p:grpSpPr>
          <a:xfrm>
            <a:off x="571500" y="571500"/>
            <a:ext cx="11049000" cy="847725"/>
            <a:chOff x="0" y="0"/>
            <a:chExt cx="11049000" cy="847725"/>
          </a:xfrm>
        </p:grpSpPr>
        <p:sp>
          <p:nvSpPr>
            <p:cNvPr id="185" name="Google Shape;185;p19"/>
            <p:cNvSpPr txBox="1"/>
            <p:nvPr/>
          </p:nvSpPr>
          <p:spPr>
            <a:xfrm>
              <a:off x="0" y="0"/>
              <a:ext cx="11049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 b="0">
                  <a:solidFill>
                    <a:srgbClr val="F8FAFC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Proposed: </a:t>
              </a:r>
              <a:r>
                <a:rPr lang="en-US" sz="4400" b="0">
                  <a:solidFill>
                    <a:srgbClr val="38BDF8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Visual-Aware</a:t>
              </a:r>
              <a:r>
                <a:rPr lang="en-US" sz="4400" b="0">
                  <a:solidFill>
                    <a:srgbClr val="F8FAFC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 Transcription</a:t>
              </a:r>
              <a:endParaRPr sz="4400" b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sp>
          <p:nvSpPr>
            <p:cNvPr id="186" name="Google Shape;186;p19"/>
            <p:cNvSpPr/>
            <p:nvPr/>
          </p:nvSpPr>
          <p:spPr>
            <a:xfrm>
              <a:off x="0" y="809625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38BDF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/>
          <p:nvPr/>
        </p:nvSpPr>
        <p:spPr>
          <a:xfrm>
            <a:off x="5524500" y="2499419"/>
            <a:ext cx="1143000" cy="57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2435542" y="2937569"/>
            <a:ext cx="7320915" cy="819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Navigating </a:t>
            </a:r>
            <a:r>
              <a:rPr lang="en-US" sz="540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Constraints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2286000" y="3947219"/>
            <a:ext cx="7620000" cy="79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Strategies for operating successfully within Google AI Studio's Free Tier limitations.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0" name="Google Shape;200;p21"/>
          <p:cNvGrpSpPr/>
          <p:nvPr/>
        </p:nvGrpSpPr>
        <p:grpSpPr>
          <a:xfrm>
            <a:off x="571500" y="571500"/>
            <a:ext cx="11049000" cy="847725"/>
            <a:chOff x="571500" y="571500"/>
            <a:chExt cx="11049000" cy="847725"/>
          </a:xfrm>
        </p:grpSpPr>
        <p:sp>
          <p:nvSpPr>
            <p:cNvPr id="201" name="Google Shape;201;p21"/>
            <p:cNvSpPr txBox="1"/>
            <p:nvPr/>
          </p:nvSpPr>
          <p:spPr>
            <a:xfrm>
              <a:off x="571500" y="571500"/>
              <a:ext cx="11049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 b="0">
                  <a:solidFill>
                    <a:srgbClr val="F8FAFC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API Limit </a:t>
              </a:r>
              <a:r>
                <a:rPr lang="en-US" sz="4400" b="0">
                  <a:solidFill>
                    <a:srgbClr val="38BDF8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Management</a:t>
              </a:r>
              <a:endParaRPr sz="4400" b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sp>
          <p:nvSpPr>
            <p:cNvPr id="202" name="Google Shape;202;p21"/>
            <p:cNvSpPr/>
            <p:nvPr/>
          </p:nvSpPr>
          <p:spPr>
            <a:xfrm>
              <a:off x="571500" y="1381125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38BDF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3" name="Google Shape;203;p21"/>
          <p:cNvGrpSpPr/>
          <p:nvPr/>
        </p:nvGrpSpPr>
        <p:grpSpPr>
          <a:xfrm>
            <a:off x="571500" y="1809750"/>
            <a:ext cx="5381700" cy="4476900"/>
            <a:chOff x="571500" y="1809750"/>
            <a:chExt cx="5381700" cy="4476900"/>
          </a:xfrm>
        </p:grpSpPr>
        <p:sp>
          <p:nvSpPr>
            <p:cNvPr id="204" name="Google Shape;204;p21"/>
            <p:cNvSpPr/>
            <p:nvPr/>
          </p:nvSpPr>
          <p:spPr>
            <a:xfrm>
              <a:off x="571500" y="1809750"/>
              <a:ext cx="5381700" cy="4476900"/>
            </a:xfrm>
            <a:prstGeom prst="roundRect">
              <a:avLst>
                <a:gd name="adj" fmla="val 3404"/>
              </a:avLst>
            </a:prstGeom>
            <a:solidFill>
              <a:srgbClr val="1E293B">
                <a:alpha val="60000"/>
              </a:srgbClr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1"/>
            <p:cNvSpPr txBox="1"/>
            <p:nvPr/>
          </p:nvSpPr>
          <p:spPr>
            <a:xfrm>
              <a:off x="952500" y="2237486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2480" dirty="0">
                <a:solidFill>
                  <a:srgbClr val="EF444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06" name="Google Shape;206;p21"/>
            <p:cNvSpPr txBox="1"/>
            <p:nvPr/>
          </p:nvSpPr>
          <p:spPr>
            <a:xfrm>
              <a:off x="952500" y="2714625"/>
              <a:ext cx="46197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dirty="0">
                  <a:solidFill>
                    <a:srgbClr val="F8FAFC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The Bottleneck</a:t>
              </a:r>
              <a:endParaRPr sz="2400" b="0" dirty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sp>
          <p:nvSpPr>
            <p:cNvPr id="207" name="Google Shape;207;p21"/>
            <p:cNvSpPr txBox="1"/>
            <p:nvPr/>
          </p:nvSpPr>
          <p:spPr>
            <a:xfrm>
              <a:off x="952500" y="3286125"/>
              <a:ext cx="46197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As of May 2026, the Google AI Studio Free Tier strictly throttles </a:t>
              </a:r>
              <a:r>
                <a:rPr lang="en-US" sz="1650" b="0" dirty="0">
                  <a:solidFill>
                    <a:srgbClr val="38BDF8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Gemini 2.5 Flash</a:t>
              </a:r>
              <a:r>
                <a:rPr lang="en-US" sz="165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and </a:t>
              </a:r>
              <a:r>
                <a:rPr lang="en-US" sz="1650" b="0" dirty="0">
                  <a:solidFill>
                    <a:srgbClr val="38BDF8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Gemini 3 Flash</a:t>
              </a:r>
              <a:r>
                <a:rPr lang="en-US" sz="165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to 20 Requests Per Day (RPD).</a:t>
              </a:r>
              <a:endParaRPr sz="165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65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Passing a full 1-hour lecture transcript and slide deck in a single request or rapid bursts will result in </a:t>
              </a:r>
              <a:r>
                <a:rPr lang="en-US" sz="1650" b="0" dirty="0">
                  <a:solidFill>
                    <a:srgbClr val="EF4444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API failure</a:t>
              </a:r>
              <a:r>
                <a:rPr lang="en-US" sz="165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.</a:t>
              </a:r>
              <a:endParaRPr sz="165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208" name="Google Shape;208;p21"/>
          <p:cNvGrpSpPr/>
          <p:nvPr/>
        </p:nvGrpSpPr>
        <p:grpSpPr>
          <a:xfrm>
            <a:off x="6238875" y="1809750"/>
            <a:ext cx="5381700" cy="4476900"/>
            <a:chOff x="6238875" y="1809750"/>
            <a:chExt cx="5381700" cy="4476900"/>
          </a:xfrm>
        </p:grpSpPr>
        <p:sp>
          <p:nvSpPr>
            <p:cNvPr id="209" name="Google Shape;209;p21"/>
            <p:cNvSpPr/>
            <p:nvPr/>
          </p:nvSpPr>
          <p:spPr>
            <a:xfrm>
              <a:off x="6238875" y="1809750"/>
              <a:ext cx="5381700" cy="4476900"/>
            </a:xfrm>
            <a:prstGeom prst="roundRect">
              <a:avLst>
                <a:gd name="adj" fmla="val 3404"/>
              </a:avLst>
            </a:prstGeom>
            <a:solidFill>
              <a:srgbClr val="1E293B">
                <a:alpha val="60000"/>
              </a:srgbClr>
            </a:solidFill>
            <a:ln w="19050" cap="flat" cmpd="sng">
              <a:solidFill>
                <a:srgbClr val="38BD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1"/>
            <p:cNvSpPr txBox="1"/>
            <p:nvPr/>
          </p:nvSpPr>
          <p:spPr>
            <a:xfrm>
              <a:off x="6619875" y="2237486"/>
              <a:ext cx="3810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80" dirty="0">
                <a:solidFill>
                  <a:srgbClr val="22C55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11" name="Google Shape;211;p21"/>
            <p:cNvSpPr txBox="1"/>
            <p:nvPr/>
          </p:nvSpPr>
          <p:spPr>
            <a:xfrm>
              <a:off x="6619875" y="2714625"/>
              <a:ext cx="46197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0" dirty="0">
                  <a:solidFill>
                    <a:srgbClr val="F8FAFC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The Batching Solution</a:t>
              </a:r>
              <a:endParaRPr sz="2400" b="0" dirty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sp>
          <p:nvSpPr>
            <p:cNvPr id="212" name="Google Shape;212;p21"/>
            <p:cNvSpPr txBox="1"/>
            <p:nvPr/>
          </p:nvSpPr>
          <p:spPr>
            <a:xfrm>
              <a:off x="6619875" y="3286125"/>
              <a:ext cx="46197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The Python pipeline will implement </a:t>
              </a:r>
              <a:r>
                <a:rPr lang="en-US" sz="1650" b="0" dirty="0">
                  <a:solidFill>
                    <a:srgbClr val="38BDF8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strict temporal chunking</a:t>
              </a:r>
              <a:r>
                <a:rPr lang="en-US" sz="165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, passing transcripts in 3 to 5-minute logical blocks.</a:t>
              </a:r>
              <a:endParaRPr sz="165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65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A programmed </a:t>
              </a:r>
              <a:r>
                <a:rPr lang="en-US" sz="1650" b="0" dirty="0" err="1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time.sleep</a:t>
              </a:r>
              <a:r>
                <a:rPr lang="en-US" sz="1650" b="0" dirty="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()</a:t>
              </a:r>
              <a:r>
                <a:rPr lang="en-US" sz="165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delay between requests ensures safe processing.</a:t>
              </a:r>
              <a:endParaRPr sz="165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65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Enables entire lecture processing at </a:t>
              </a:r>
              <a:r>
                <a:rPr lang="en-US" sz="1650" b="0" dirty="0">
                  <a:solidFill>
                    <a:srgbClr val="22C55E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zero cost</a:t>
              </a:r>
              <a:r>
                <a:rPr lang="en-US" sz="165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without triggering rate limits.</a:t>
              </a:r>
              <a:endParaRPr sz="165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E66DBA8A-E9F7-6E44-E87E-D902214610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28" y="2155503"/>
            <a:ext cx="495343" cy="4877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3FAABE-DD3E-F139-8D4E-657C954342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8835" y="2173558"/>
            <a:ext cx="548688" cy="54106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</p:pic>
      <p:sp>
        <p:nvSpPr>
          <p:cNvPr id="218" name="Google Shape;218;p22"/>
          <p:cNvSpPr txBox="1"/>
          <p:nvPr/>
        </p:nvSpPr>
        <p:spPr>
          <a:xfrm>
            <a:off x="571500" y="571500"/>
            <a:ext cx="110490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125"/>
              </a:spcAft>
              <a:buNone/>
            </a:pPr>
            <a:r>
              <a:rPr lang="en-US" sz="4400" b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Non-Linear </a:t>
            </a:r>
            <a:r>
              <a:rPr lang="en-US" sz="4400" b="0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Content Alignment</a:t>
            </a:r>
            <a:endParaRPr sz="4400" b="0">
              <a:solidFill>
                <a:srgbClr val="F8FAFC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571500" y="1381125"/>
            <a:ext cx="7620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0" name="Google Shape;220;p22"/>
          <p:cNvGrpSpPr/>
          <p:nvPr/>
        </p:nvGrpSpPr>
        <p:grpSpPr>
          <a:xfrm>
            <a:off x="571500" y="1809750"/>
            <a:ext cx="5381700" cy="4476900"/>
            <a:chOff x="571500" y="1809750"/>
            <a:chExt cx="5381700" cy="4476900"/>
          </a:xfrm>
        </p:grpSpPr>
        <p:sp>
          <p:nvSpPr>
            <p:cNvPr id="221" name="Google Shape;221;p22"/>
            <p:cNvSpPr/>
            <p:nvPr/>
          </p:nvSpPr>
          <p:spPr>
            <a:xfrm>
              <a:off x="571500" y="1809750"/>
              <a:ext cx="5381700" cy="4476900"/>
            </a:xfrm>
            <a:prstGeom prst="roundRect">
              <a:avLst>
                <a:gd name="adj" fmla="val 3404"/>
              </a:avLst>
            </a:prstGeom>
            <a:solidFill>
              <a:srgbClr val="1E293B">
                <a:alpha val="60000"/>
              </a:srgbClr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22"/>
            <p:cNvSpPr txBox="1"/>
            <p:nvPr/>
          </p:nvSpPr>
          <p:spPr>
            <a:xfrm>
              <a:off x="952500" y="2274595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1125"/>
                </a:spcAft>
                <a:buNone/>
              </a:pPr>
              <a:endParaRPr sz="2480" b="0" dirty="0">
                <a:solidFill>
                  <a:srgbClr val="EF4444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23" name="Google Shape;223;p22"/>
            <p:cNvSpPr txBox="1"/>
            <p:nvPr/>
          </p:nvSpPr>
          <p:spPr>
            <a:xfrm>
              <a:off x="952500" y="2714625"/>
              <a:ext cx="46197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1125"/>
                </a:spcAft>
                <a:buNone/>
              </a:pPr>
              <a:r>
                <a:rPr lang="en-US" sz="2400" b="0" dirty="0">
                  <a:solidFill>
                    <a:srgbClr val="F8FAFC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The Asynchrony Challenge</a:t>
              </a:r>
              <a:endParaRPr sz="2400" b="0" dirty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sp>
          <p:nvSpPr>
            <p:cNvPr id="224" name="Google Shape;224;p22"/>
            <p:cNvSpPr txBox="1"/>
            <p:nvPr/>
          </p:nvSpPr>
          <p:spPr>
            <a:xfrm>
              <a:off x="952500" y="3286125"/>
              <a:ext cx="46197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Professors often deviate from a </a:t>
              </a:r>
              <a:r>
                <a:rPr lang="en-US" sz="1650" b="0" dirty="0">
                  <a:solidFill>
                    <a:srgbClr val="38BDF8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1-to-1 slide sequence</a:t>
              </a:r>
              <a:r>
                <a:rPr lang="en-US" sz="165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, incorporating external materials, deep-dives, or non-linear explanations.</a:t>
              </a:r>
              <a:endParaRPr sz="165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1125"/>
                </a:spcBef>
                <a:spcAft>
                  <a:spcPts val="1125"/>
                </a:spcAft>
                <a:buNone/>
              </a:pPr>
              <a:r>
                <a:rPr lang="en-US" sz="165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A simple chronological mapping results in </a:t>
              </a:r>
              <a:r>
                <a:rPr lang="en-US" sz="1650" b="0" dirty="0">
                  <a:solidFill>
                    <a:srgbClr val="EF4444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contextual mismatch</a:t>
              </a:r>
              <a:r>
                <a:rPr lang="en-US" sz="1650" b="0" dirty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between the video transcript and the static slide deck.</a:t>
              </a:r>
              <a:endParaRPr sz="1650" b="0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225" name="Google Shape;225;p22"/>
          <p:cNvGrpSpPr/>
          <p:nvPr/>
        </p:nvGrpSpPr>
        <p:grpSpPr>
          <a:xfrm>
            <a:off x="6238875" y="1809750"/>
            <a:ext cx="5381700" cy="4476900"/>
            <a:chOff x="6238875" y="1809750"/>
            <a:chExt cx="5381700" cy="4476900"/>
          </a:xfrm>
        </p:grpSpPr>
        <p:sp>
          <p:nvSpPr>
            <p:cNvPr id="226" name="Google Shape;226;p22"/>
            <p:cNvSpPr/>
            <p:nvPr/>
          </p:nvSpPr>
          <p:spPr>
            <a:xfrm>
              <a:off x="6238875" y="1809750"/>
              <a:ext cx="5381700" cy="4476900"/>
            </a:xfrm>
            <a:prstGeom prst="roundRect">
              <a:avLst>
                <a:gd name="adj" fmla="val 3404"/>
              </a:avLst>
            </a:prstGeom>
            <a:solidFill>
              <a:srgbClr val="1E293B">
                <a:alpha val="60000"/>
              </a:srgbClr>
            </a:solidFill>
            <a:ln w="19050" cap="flat" cmpd="sng">
              <a:solidFill>
                <a:srgbClr val="38BD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22"/>
            <p:cNvSpPr txBox="1"/>
            <p:nvPr/>
          </p:nvSpPr>
          <p:spPr>
            <a:xfrm>
              <a:off x="6619875" y="2274595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1125"/>
                </a:spcAft>
                <a:buNone/>
              </a:pPr>
              <a:endParaRPr sz="2480" b="0" dirty="0">
                <a:solidFill>
                  <a:srgbClr val="22C55E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28" name="Google Shape;228;p22"/>
            <p:cNvSpPr txBox="1"/>
            <p:nvPr/>
          </p:nvSpPr>
          <p:spPr>
            <a:xfrm>
              <a:off x="6619875" y="2714625"/>
              <a:ext cx="4619700" cy="4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1125"/>
                </a:spcAft>
                <a:buNone/>
              </a:pPr>
              <a:r>
                <a:rPr lang="en-US" sz="2400" b="0">
                  <a:solidFill>
                    <a:srgbClr val="F8FAFC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Contextual Re-Mapping</a:t>
              </a:r>
              <a:endParaRPr sz="2400" b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sp>
          <p:nvSpPr>
            <p:cNvPr id="229" name="Google Shape;229;p22"/>
            <p:cNvSpPr txBox="1"/>
            <p:nvPr/>
          </p:nvSpPr>
          <p:spPr>
            <a:xfrm>
              <a:off x="6619875" y="3286125"/>
              <a:ext cx="4619700" cy="2667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Our system uses </a:t>
              </a:r>
              <a:r>
                <a:rPr lang="en-US" sz="1600" b="0">
                  <a:solidFill>
                    <a:srgbClr val="38BDF8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smart search</a:t>
              </a:r>
              <a:r>
                <a:rPr lang="en-US" sz="160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to find the best slide for every part of the talk, even if the professor jumps around.</a:t>
              </a:r>
              <a:endParaRPr sz="1600" b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en-US" sz="160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W</a:t>
              </a:r>
              <a:r>
                <a:rPr lang="en-US" sz="160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e could </a:t>
              </a:r>
              <a:r>
                <a:rPr lang="en-US" sz="160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operating modes to fit different needs:</a:t>
              </a:r>
              <a:endParaRPr sz="1600" b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457200" lvl="0" indent="-330200" algn="l" rtl="0">
                <a:spcBef>
                  <a:spcPts val="750"/>
                </a:spcBef>
                <a:spcAft>
                  <a:spcPts val="0"/>
                </a:spcAft>
                <a:buClr>
                  <a:srgbClr val="CBD5E1"/>
                </a:buClr>
                <a:buSzPts val="1600"/>
                <a:buFont typeface="Urbanist"/>
                <a:buChar char="●"/>
              </a:pPr>
              <a:r>
                <a:rPr lang="en-US" sz="1600" b="0">
                  <a:solidFill>
                    <a:srgbClr val="F8FAFC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1-to-1 Match:</a:t>
              </a:r>
              <a:r>
                <a:rPr lang="en-US" sz="160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Traditional direct slide sequence.</a:t>
              </a:r>
              <a:endParaRPr sz="1600" b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457200" lvl="0" indent="-330200" algn="l" rtl="0">
                <a:spcBef>
                  <a:spcPts val="450"/>
                </a:spcBef>
                <a:spcAft>
                  <a:spcPts val="0"/>
                </a:spcAft>
                <a:buClr>
                  <a:srgbClr val="CBD5E1"/>
                </a:buClr>
                <a:buSzPts val="1600"/>
                <a:buFont typeface="Urbanist"/>
                <a:buChar char="●"/>
              </a:pPr>
              <a:r>
                <a:rPr lang="en-US" sz="1600" b="0">
                  <a:solidFill>
                    <a:srgbClr val="F8FAFC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Additional Information:</a:t>
              </a:r>
              <a:r>
                <a:rPr lang="en-US" sz="160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Links extra content to core concepts.</a:t>
              </a:r>
              <a:endParaRPr sz="1600" b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  <a:p>
              <a:pPr marL="0" lvl="0" indent="0" algn="l" rtl="0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50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This makes sure </a:t>
              </a:r>
              <a:r>
                <a:rPr lang="en-US" sz="150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the</a:t>
              </a:r>
              <a:r>
                <a:rPr lang="en-US" sz="150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 notes always stay organized, no matter how the lesson is delivered.</a:t>
              </a:r>
              <a:endParaRPr sz="1500" b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29886C0C-A9D9-A867-66A2-265E98A275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236" y="2131795"/>
            <a:ext cx="480102" cy="4801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038CDDC-7A41-BDBF-1A6A-4E4EF36FCB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9875" y="2154657"/>
            <a:ext cx="457240" cy="4572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5" name="Google Shape;235;p23"/>
          <p:cNvGrpSpPr/>
          <p:nvPr/>
        </p:nvGrpSpPr>
        <p:grpSpPr>
          <a:xfrm>
            <a:off x="571500" y="476250"/>
            <a:ext cx="11049000" cy="847725"/>
            <a:chOff x="571500" y="476250"/>
            <a:chExt cx="11049000" cy="847725"/>
          </a:xfrm>
        </p:grpSpPr>
        <p:sp>
          <p:nvSpPr>
            <p:cNvPr id="236" name="Google Shape;236;p23"/>
            <p:cNvSpPr txBox="1"/>
            <p:nvPr/>
          </p:nvSpPr>
          <p:spPr>
            <a:xfrm>
              <a:off x="571500" y="476250"/>
              <a:ext cx="11049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 b="0">
                  <a:solidFill>
                    <a:srgbClr val="F8FAFC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Proposed </a:t>
              </a:r>
              <a:r>
                <a:rPr lang="en-US" sz="4400" b="0">
                  <a:solidFill>
                    <a:srgbClr val="38BDF8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Workflow</a:t>
              </a:r>
              <a:endParaRPr sz="4400" b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sp>
          <p:nvSpPr>
            <p:cNvPr id="237" name="Google Shape;237;p23"/>
            <p:cNvSpPr/>
            <p:nvPr/>
          </p:nvSpPr>
          <p:spPr>
            <a:xfrm>
              <a:off x="571500" y="1285875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38BDF8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8" name="Google Shape;238;p23"/>
          <p:cNvGrpSpPr/>
          <p:nvPr/>
        </p:nvGrpSpPr>
        <p:grpSpPr>
          <a:xfrm>
            <a:off x="571500" y="1714500"/>
            <a:ext cx="2476500" cy="4381500"/>
            <a:chOff x="571500" y="1714500"/>
            <a:chExt cx="2476500" cy="4381500"/>
          </a:xfrm>
        </p:grpSpPr>
        <p:sp>
          <p:nvSpPr>
            <p:cNvPr id="239" name="Google Shape;239;p23"/>
            <p:cNvSpPr/>
            <p:nvPr/>
          </p:nvSpPr>
          <p:spPr>
            <a:xfrm>
              <a:off x="571500" y="1714500"/>
              <a:ext cx="2476500" cy="4381500"/>
            </a:xfrm>
            <a:prstGeom prst="roundRect">
              <a:avLst>
                <a:gd name="adj" fmla="val 6153"/>
              </a:avLst>
            </a:prstGeom>
            <a:solidFill>
              <a:srgbClr val="1E293B">
                <a:alpha val="40000"/>
              </a:srgbClr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23"/>
            <p:cNvSpPr txBox="1"/>
            <p:nvPr/>
          </p:nvSpPr>
          <p:spPr>
            <a:xfrm>
              <a:off x="571500" y="1892427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41" name="Google Shape;241;p23"/>
            <p:cNvSpPr/>
            <p:nvPr/>
          </p:nvSpPr>
          <p:spPr>
            <a:xfrm>
              <a:off x="762000" y="2286000"/>
              <a:ext cx="2095500" cy="571500"/>
            </a:xfrm>
            <a:prstGeom prst="roundRect">
              <a:avLst>
                <a:gd name="adj" fmla="val 13333"/>
              </a:avLst>
            </a:prstGeom>
            <a:solidFill>
              <a:srgbClr val="1E293B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23"/>
            <p:cNvSpPr txBox="1"/>
            <p:nvPr/>
          </p:nvSpPr>
          <p:spPr>
            <a:xfrm>
              <a:off x="762000" y="2286000"/>
              <a:ext cx="2095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>
                  <a:solidFill>
                    <a:srgbClr val="F8FAFC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MP4 Video</a:t>
              </a:r>
              <a:endParaRPr sz="1400" b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cxnSp>
          <p:nvCxnSpPr>
            <p:cNvPr id="243" name="Google Shape;243;p23"/>
            <p:cNvCxnSpPr/>
            <p:nvPr/>
          </p:nvCxnSpPr>
          <p:spPr>
            <a:xfrm>
              <a:off x="1809750" y="2857500"/>
              <a:ext cx="0" cy="285900"/>
            </a:xfrm>
            <a:prstGeom prst="straightConnector1">
              <a:avLst/>
            </a:prstGeom>
            <a:solidFill>
              <a:srgbClr val="FFFFFF"/>
            </a:solidFill>
            <a:ln w="19050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44" name="Google Shape;244;p23"/>
            <p:cNvSpPr txBox="1"/>
            <p:nvPr/>
          </p:nvSpPr>
          <p:spPr>
            <a:xfrm>
              <a:off x="762000" y="3143250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Audio Extraction</a:t>
              </a:r>
              <a:endParaRPr sz="1100" b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cxnSp>
          <p:nvCxnSpPr>
            <p:cNvPr id="245" name="Google Shape;245;p23"/>
            <p:cNvCxnSpPr/>
            <p:nvPr/>
          </p:nvCxnSpPr>
          <p:spPr>
            <a:xfrm>
              <a:off x="1809750" y="3524250"/>
              <a:ext cx="0" cy="285900"/>
            </a:xfrm>
            <a:prstGeom prst="straightConnector1">
              <a:avLst/>
            </a:prstGeom>
            <a:solidFill>
              <a:srgbClr val="FFFFFF"/>
            </a:solidFill>
            <a:ln w="19050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46" name="Google Shape;246;p23"/>
            <p:cNvSpPr/>
            <p:nvPr/>
          </p:nvSpPr>
          <p:spPr>
            <a:xfrm>
              <a:off x="762000" y="3810000"/>
              <a:ext cx="2095500" cy="666900"/>
            </a:xfrm>
            <a:prstGeom prst="roundRect">
              <a:avLst>
                <a:gd name="adj" fmla="val 11428"/>
              </a:avLst>
            </a:prstGeom>
            <a:solidFill>
              <a:srgbClr val="334155"/>
            </a:solidFill>
            <a:ln w="19050" cap="flat" cmpd="sng">
              <a:solidFill>
                <a:srgbClr val="38BD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23"/>
            <p:cNvSpPr txBox="1"/>
            <p:nvPr/>
          </p:nvSpPr>
          <p:spPr>
            <a:xfrm>
              <a:off x="762000" y="3810000"/>
              <a:ext cx="2095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F8FAFC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Local Whisper/Gemini API</a:t>
              </a:r>
              <a:endParaRPr sz="1200" b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cxnSp>
          <p:nvCxnSpPr>
            <p:cNvPr id="248" name="Google Shape;248;p23"/>
            <p:cNvCxnSpPr/>
            <p:nvPr/>
          </p:nvCxnSpPr>
          <p:spPr>
            <a:xfrm>
              <a:off x="1809750" y="4476750"/>
              <a:ext cx="0" cy="285900"/>
            </a:xfrm>
            <a:prstGeom prst="straightConnector1">
              <a:avLst/>
            </a:prstGeom>
            <a:solidFill>
              <a:srgbClr val="FFFFFF"/>
            </a:solidFill>
            <a:ln w="19050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49" name="Google Shape;249;p23"/>
            <p:cNvSpPr/>
            <p:nvPr/>
          </p:nvSpPr>
          <p:spPr>
            <a:xfrm>
              <a:off x="762000" y="4762500"/>
              <a:ext cx="2095500" cy="571500"/>
            </a:xfrm>
            <a:prstGeom prst="roundRect">
              <a:avLst>
                <a:gd name="adj" fmla="val 13333"/>
              </a:avLst>
            </a:prstGeom>
            <a:solidFill>
              <a:srgbClr val="1E293B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23"/>
            <p:cNvSpPr txBox="1"/>
            <p:nvPr/>
          </p:nvSpPr>
          <p:spPr>
            <a:xfrm>
              <a:off x="762000" y="4762500"/>
              <a:ext cx="2095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 b="0">
                  <a:solidFill>
                    <a:srgbClr val="94A3B8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Timestamped JSON</a:t>
              </a:r>
              <a:endParaRPr sz="1000" b="0">
                <a:solidFill>
                  <a:srgbClr val="94A3B8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grpSp>
        <p:nvGrpSpPr>
          <p:cNvPr id="251" name="Google Shape;251;p23"/>
          <p:cNvGrpSpPr/>
          <p:nvPr/>
        </p:nvGrpSpPr>
        <p:grpSpPr>
          <a:xfrm>
            <a:off x="3333750" y="1714500"/>
            <a:ext cx="2476500" cy="4381500"/>
            <a:chOff x="3333750" y="1714500"/>
            <a:chExt cx="2476500" cy="4381500"/>
          </a:xfrm>
        </p:grpSpPr>
        <p:sp>
          <p:nvSpPr>
            <p:cNvPr id="252" name="Google Shape;252;p23"/>
            <p:cNvSpPr/>
            <p:nvPr/>
          </p:nvSpPr>
          <p:spPr>
            <a:xfrm>
              <a:off x="3333750" y="1714500"/>
              <a:ext cx="2476500" cy="4381500"/>
            </a:xfrm>
            <a:prstGeom prst="roundRect">
              <a:avLst>
                <a:gd name="adj" fmla="val 6153"/>
              </a:avLst>
            </a:prstGeom>
            <a:solidFill>
              <a:srgbClr val="1E293B">
                <a:alpha val="40000"/>
              </a:srgbClr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23"/>
            <p:cNvSpPr txBox="1"/>
            <p:nvPr/>
          </p:nvSpPr>
          <p:spPr>
            <a:xfrm>
              <a:off x="3333750" y="1892427"/>
              <a:ext cx="2476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 dirty="0">
                <a:solidFill>
                  <a:srgbClr val="38BDF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54" name="Google Shape;254;p23"/>
            <p:cNvSpPr/>
            <p:nvPr/>
          </p:nvSpPr>
          <p:spPr>
            <a:xfrm>
              <a:off x="3524250" y="2286000"/>
              <a:ext cx="2095500" cy="571500"/>
            </a:xfrm>
            <a:prstGeom prst="roundRect">
              <a:avLst>
                <a:gd name="adj" fmla="val 13333"/>
              </a:avLst>
            </a:prstGeom>
            <a:solidFill>
              <a:srgbClr val="1E293B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23"/>
            <p:cNvSpPr txBox="1"/>
            <p:nvPr/>
          </p:nvSpPr>
          <p:spPr>
            <a:xfrm>
              <a:off x="3524250" y="2286000"/>
              <a:ext cx="2095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0">
                  <a:solidFill>
                    <a:srgbClr val="F8FAFC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PDF Slides</a:t>
              </a:r>
              <a:endParaRPr sz="1400" b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cxnSp>
          <p:nvCxnSpPr>
            <p:cNvPr id="256" name="Google Shape;256;p23"/>
            <p:cNvCxnSpPr/>
            <p:nvPr/>
          </p:nvCxnSpPr>
          <p:spPr>
            <a:xfrm>
              <a:off x="4572000" y="2857500"/>
              <a:ext cx="0" cy="285900"/>
            </a:xfrm>
            <a:prstGeom prst="straightConnector1">
              <a:avLst/>
            </a:prstGeom>
            <a:solidFill>
              <a:srgbClr val="FFFFFF"/>
            </a:solidFill>
            <a:ln w="19050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57" name="Google Shape;257;p23"/>
            <p:cNvSpPr txBox="1"/>
            <p:nvPr/>
          </p:nvSpPr>
          <p:spPr>
            <a:xfrm>
              <a:off x="3524250" y="3143250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PyMuPDF Extract</a:t>
              </a:r>
              <a:endParaRPr sz="1100" b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cxnSp>
          <p:nvCxnSpPr>
            <p:cNvPr id="258" name="Google Shape;258;p23"/>
            <p:cNvCxnSpPr/>
            <p:nvPr/>
          </p:nvCxnSpPr>
          <p:spPr>
            <a:xfrm>
              <a:off x="4572000" y="3524250"/>
              <a:ext cx="0" cy="285900"/>
            </a:xfrm>
            <a:prstGeom prst="straightConnector1">
              <a:avLst/>
            </a:prstGeom>
            <a:solidFill>
              <a:srgbClr val="FFFFFF"/>
            </a:solidFill>
            <a:ln w="19050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59" name="Google Shape;259;p23"/>
            <p:cNvSpPr/>
            <p:nvPr/>
          </p:nvSpPr>
          <p:spPr>
            <a:xfrm>
              <a:off x="3524250" y="3810000"/>
              <a:ext cx="2095500" cy="666900"/>
            </a:xfrm>
            <a:prstGeom prst="roundRect">
              <a:avLst>
                <a:gd name="adj" fmla="val 11428"/>
              </a:avLst>
            </a:prstGeom>
            <a:solidFill>
              <a:srgbClr val="334155"/>
            </a:solidFill>
            <a:ln w="19050" cap="flat" cmpd="sng">
              <a:solidFill>
                <a:srgbClr val="38BD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3"/>
            <p:cNvSpPr txBox="1"/>
            <p:nvPr/>
          </p:nvSpPr>
          <p:spPr>
            <a:xfrm>
              <a:off x="3524250" y="3810000"/>
              <a:ext cx="20955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F8FAFC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Slide Text Array</a:t>
              </a:r>
              <a:endParaRPr sz="1200" b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</p:grpSp>
      <p:grpSp>
        <p:nvGrpSpPr>
          <p:cNvPr id="261" name="Google Shape;261;p23"/>
          <p:cNvGrpSpPr/>
          <p:nvPr/>
        </p:nvGrpSpPr>
        <p:grpSpPr>
          <a:xfrm>
            <a:off x="2857500" y="4124325"/>
            <a:ext cx="3238650" cy="38100"/>
            <a:chOff x="2857500" y="4124325"/>
            <a:chExt cx="3238650" cy="38100"/>
          </a:xfrm>
        </p:grpSpPr>
        <p:pic>
          <p:nvPicPr>
            <p:cNvPr id="262" name="Google Shape;262;p2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857500" y="4124325"/>
              <a:ext cx="476400" cy="381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3" name="Google Shape;263;p2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619750" y="4124325"/>
              <a:ext cx="476400" cy="381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4" name="Google Shape;264;p23"/>
          <p:cNvGrpSpPr/>
          <p:nvPr/>
        </p:nvGrpSpPr>
        <p:grpSpPr>
          <a:xfrm>
            <a:off x="6096000" y="1714500"/>
            <a:ext cx="2476500" cy="4381500"/>
            <a:chOff x="6096000" y="1714500"/>
            <a:chExt cx="2476500" cy="4381500"/>
          </a:xfrm>
        </p:grpSpPr>
        <p:sp>
          <p:nvSpPr>
            <p:cNvPr id="265" name="Google Shape;265;p23"/>
            <p:cNvSpPr/>
            <p:nvPr/>
          </p:nvSpPr>
          <p:spPr>
            <a:xfrm>
              <a:off x="6096000" y="1714500"/>
              <a:ext cx="2476500" cy="4381500"/>
            </a:xfrm>
            <a:prstGeom prst="roundRect">
              <a:avLst>
                <a:gd name="adj" fmla="val 6153"/>
              </a:avLst>
            </a:prstGeom>
            <a:solidFill>
              <a:srgbClr val="1E293B">
                <a:alpha val="40000"/>
              </a:srgbClr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3"/>
            <p:cNvSpPr/>
            <p:nvPr/>
          </p:nvSpPr>
          <p:spPr>
            <a:xfrm>
              <a:off x="6286500" y="2000250"/>
              <a:ext cx="2095500" cy="7620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19050" cap="flat" cmpd="sng">
              <a:solidFill>
                <a:srgbClr val="38BDF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3"/>
            <p:cNvSpPr txBox="1"/>
            <p:nvPr/>
          </p:nvSpPr>
          <p:spPr>
            <a:xfrm>
              <a:off x="6286500" y="2000250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F8FAFC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Chunking &amp; Batching</a:t>
              </a:r>
              <a:endParaRPr sz="1200" b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cxnSp>
          <p:nvCxnSpPr>
            <p:cNvPr id="268" name="Google Shape;268;p23"/>
            <p:cNvCxnSpPr/>
            <p:nvPr/>
          </p:nvCxnSpPr>
          <p:spPr>
            <a:xfrm>
              <a:off x="7334250" y="2762250"/>
              <a:ext cx="0" cy="285900"/>
            </a:xfrm>
            <a:prstGeom prst="straightConnector1">
              <a:avLst/>
            </a:prstGeom>
            <a:solidFill>
              <a:srgbClr val="FFFFFF"/>
            </a:solidFill>
            <a:ln w="38100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9" name="Google Shape;269;p23"/>
            <p:cNvSpPr/>
            <p:nvPr/>
          </p:nvSpPr>
          <p:spPr>
            <a:xfrm>
              <a:off x="6286500" y="3048000"/>
              <a:ext cx="2095500" cy="952500"/>
            </a:xfrm>
            <a:prstGeom prst="roundRect">
              <a:avLst>
                <a:gd name="adj" fmla="val 8000"/>
              </a:avLst>
            </a:prstGeom>
            <a:solidFill>
              <a:srgbClr val="0B1120"/>
            </a:solidFill>
            <a:ln w="19050" cap="flat" cmpd="sng">
              <a:solidFill>
                <a:srgbClr val="22C5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3"/>
            <p:cNvSpPr txBox="1"/>
            <p:nvPr/>
          </p:nvSpPr>
          <p:spPr>
            <a:xfrm>
              <a:off x="6286500" y="3048000"/>
              <a:ext cx="20955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F8FAFC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Gemini Flash API</a:t>
              </a:r>
              <a:endParaRPr sz="1200" b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  <a:p>
              <a:pPr marL="0" lvl="0" indent="0" algn="ctr" rtl="0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900" b="0">
                  <a:solidFill>
                    <a:srgbClr val="22C55E"/>
                  </a:solidFill>
                  <a:latin typeface="Urbanist SemiBold"/>
                  <a:ea typeface="Urbanist SemiBold"/>
                  <a:cs typeface="Urbanist SemiBold"/>
                  <a:sym typeface="Urbanist SemiBold"/>
                </a:rPr>
                <a:t>Rate Limit Control</a:t>
              </a:r>
              <a:endParaRPr sz="900" b="0">
                <a:solidFill>
                  <a:srgbClr val="22C55E"/>
                </a:solidFill>
                <a:latin typeface="Urbanist SemiBold"/>
                <a:ea typeface="Urbanist SemiBold"/>
                <a:cs typeface="Urbanist SemiBold"/>
                <a:sym typeface="Urbanist SemiBold"/>
              </a:endParaRPr>
            </a:p>
          </p:txBody>
        </p:sp>
        <p:cxnSp>
          <p:nvCxnSpPr>
            <p:cNvPr id="271" name="Google Shape;271;p23"/>
            <p:cNvCxnSpPr/>
            <p:nvPr/>
          </p:nvCxnSpPr>
          <p:spPr>
            <a:xfrm>
              <a:off x="7334250" y="4000500"/>
              <a:ext cx="0" cy="285900"/>
            </a:xfrm>
            <a:prstGeom prst="straightConnector1">
              <a:avLst/>
            </a:prstGeom>
            <a:solidFill>
              <a:srgbClr val="FFFFFF"/>
            </a:solidFill>
            <a:ln w="38100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72" name="Google Shape;272;p23"/>
            <p:cNvSpPr/>
            <p:nvPr/>
          </p:nvSpPr>
          <p:spPr>
            <a:xfrm>
              <a:off x="6286500" y="4286250"/>
              <a:ext cx="2095500" cy="7620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 cap="flat" cmpd="sng">
              <a:solidFill>
                <a:srgbClr val="3341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23"/>
            <p:cNvSpPr txBox="1"/>
            <p:nvPr/>
          </p:nvSpPr>
          <p:spPr>
            <a:xfrm>
              <a:off x="6286500" y="4286250"/>
              <a:ext cx="20955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>
                  <a:solidFill>
                    <a:srgbClr val="CBD5E1"/>
                  </a:solidFill>
                  <a:latin typeface="Urbanist"/>
                  <a:ea typeface="Urbanist"/>
                  <a:cs typeface="Urbanist"/>
                  <a:sym typeface="Urbanist"/>
                </a:rPr>
                <a:t>Data Assembly</a:t>
              </a:r>
              <a:endParaRPr sz="1200" b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grpSp>
        <p:nvGrpSpPr>
          <p:cNvPr id="274" name="Google Shape;274;p23"/>
          <p:cNvGrpSpPr/>
          <p:nvPr/>
        </p:nvGrpSpPr>
        <p:grpSpPr>
          <a:xfrm>
            <a:off x="8572500" y="4286250"/>
            <a:ext cx="3048000" cy="762000"/>
            <a:chOff x="8572500" y="4286250"/>
            <a:chExt cx="3048000" cy="762000"/>
          </a:xfrm>
        </p:grpSpPr>
        <p:pic>
          <p:nvPicPr>
            <p:cNvPr id="275" name="Google Shape;275;p2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8572500" y="4648200"/>
              <a:ext cx="533400" cy="38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6" name="Google Shape;276;p23"/>
            <p:cNvSpPr/>
            <p:nvPr/>
          </p:nvSpPr>
          <p:spPr>
            <a:xfrm>
              <a:off x="9334500" y="4286250"/>
              <a:ext cx="2286000" cy="762000"/>
            </a:xfrm>
            <a:prstGeom prst="roundRect">
              <a:avLst>
                <a:gd name="adj" fmla="val 10000"/>
              </a:avLst>
            </a:prstGeom>
            <a:solidFill>
              <a:srgbClr val="065F46"/>
            </a:solidFill>
            <a:ln w="19050" cap="flat" cmpd="sng">
              <a:solidFill>
                <a:srgbClr val="22C55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3"/>
            <p:cNvSpPr txBox="1"/>
            <p:nvPr/>
          </p:nvSpPr>
          <p:spPr>
            <a:xfrm>
              <a:off x="9334500" y="4286250"/>
              <a:ext cx="2286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00" b="1">
                  <a:solidFill>
                    <a:srgbClr val="F8FAFC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FINAL OUTPUT JSON</a:t>
              </a:r>
              <a:endParaRPr sz="1100" b="1">
                <a:solidFill>
                  <a:srgbClr val="F8FAFC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C54045DD-A2D7-DB8A-57A6-5106B6B583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35406" y="1809750"/>
            <a:ext cx="548688" cy="4115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7508F58-5345-A49D-CCA5-5A27EE92843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40476" y="1760199"/>
            <a:ext cx="617273" cy="4801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117377"/>
            <a:ext cx="3429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1500" y="2117377"/>
            <a:ext cx="3429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4"/>
          <p:cNvPicPr preferRelativeResize="0"/>
          <p:nvPr/>
        </p:nvPicPr>
        <p:blipFill rotWithShape="1">
          <a:blip r:embed="rId5">
            <a:alphaModFix/>
          </a:blip>
          <a:srcRect t="209" b="209"/>
          <a:stretch/>
        </p:blipFill>
        <p:spPr>
          <a:xfrm>
            <a:off x="8191500" y="2117379"/>
            <a:ext cx="34290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4"/>
          <p:cNvSpPr txBox="1"/>
          <p:nvPr/>
        </p:nvSpPr>
        <p:spPr>
          <a:xfrm>
            <a:off x="485775" y="4641502"/>
            <a:ext cx="3600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Side-by-Side UI</a:t>
            </a:r>
            <a:endParaRPr/>
          </a:p>
        </p:txBody>
      </p:sp>
      <p:sp>
        <p:nvSpPr>
          <p:cNvPr id="287" name="Google Shape;287;p24"/>
          <p:cNvSpPr txBox="1"/>
          <p:nvPr/>
        </p:nvSpPr>
        <p:spPr>
          <a:xfrm>
            <a:off x="666750" y="5041552"/>
            <a:ext cx="32385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 planned Streamlit interface combining the original PDF and extracted contextual notes.</a:t>
            </a:r>
            <a:endParaRPr/>
          </a:p>
        </p:txBody>
      </p:sp>
      <p:sp>
        <p:nvSpPr>
          <p:cNvPr id="288" name="Google Shape;288;p24"/>
          <p:cNvSpPr txBox="1"/>
          <p:nvPr/>
        </p:nvSpPr>
        <p:spPr>
          <a:xfrm>
            <a:off x="4295775" y="4641502"/>
            <a:ext cx="3600600" cy="2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Smart Search</a:t>
            </a:r>
            <a:endParaRPr/>
          </a:p>
        </p:txBody>
      </p:sp>
      <p:sp>
        <p:nvSpPr>
          <p:cNvPr id="289" name="Google Shape;289;p24"/>
          <p:cNvSpPr txBox="1"/>
          <p:nvPr/>
        </p:nvSpPr>
        <p:spPr>
          <a:xfrm>
            <a:off x="4476750" y="5041552"/>
            <a:ext cx="3238500" cy="8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Allowing students to query the exact timestamp where a professor mentioned a specific keyword.</a:t>
            </a:r>
            <a:endParaRPr/>
          </a:p>
        </p:txBody>
      </p:sp>
      <p:sp>
        <p:nvSpPr>
          <p:cNvPr id="290" name="Google Shape;290;p24"/>
          <p:cNvSpPr txBox="1"/>
          <p:nvPr/>
        </p:nvSpPr>
        <p:spPr>
          <a:xfrm>
            <a:off x="8105775" y="4641504"/>
            <a:ext cx="3600600" cy="2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Contextual Chat</a:t>
            </a:r>
            <a:endParaRPr sz="1650" b="0" i="0">
              <a:solidFill>
                <a:srgbClr val="F8FAFC"/>
              </a:solidFill>
              <a:latin typeface="Urbanist SemiBold"/>
              <a:ea typeface="Urbanist SemiBold"/>
              <a:cs typeface="Urbanist SemiBold"/>
              <a:sym typeface="Urbanist SemiBold"/>
            </a:endParaRPr>
          </a:p>
        </p:txBody>
      </p:sp>
      <p:sp>
        <p:nvSpPr>
          <p:cNvPr id="291" name="Google Shape;291;p24"/>
          <p:cNvSpPr txBox="1"/>
          <p:nvPr/>
        </p:nvSpPr>
        <p:spPr>
          <a:xfrm>
            <a:off x="8286750" y="5041554"/>
            <a:ext cx="3238500" cy="831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Chat about the lecture with s</a:t>
            </a:r>
            <a:r>
              <a:rPr lang="en-US" sz="13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mall and faster model like </a:t>
            </a:r>
            <a:r>
              <a:rPr lang="en-US" sz="1350" b="0" i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Gemma 4, leveraging the full video transcript and overall context for fast, precise answers.</a:t>
            </a:r>
            <a:endParaRPr sz="1350" b="0" i="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pic>
        <p:nvPicPr>
          <p:cNvPr id="292" name="Google Shape;292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2117377"/>
            <a:ext cx="3429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381500" y="2117377"/>
            <a:ext cx="3429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4"/>
          <p:cNvPicPr preferRelativeResize="0"/>
          <p:nvPr/>
        </p:nvPicPr>
        <p:blipFill rotWithShape="1">
          <a:blip r:embed="rId8">
            <a:alphaModFix/>
          </a:blip>
          <a:srcRect t="209" b="209"/>
          <a:stretch/>
        </p:blipFill>
        <p:spPr>
          <a:xfrm>
            <a:off x="8191500" y="2117379"/>
            <a:ext cx="34290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4"/>
          <p:cNvSpPr txBox="1"/>
          <p:nvPr/>
        </p:nvSpPr>
        <p:spPr>
          <a:xfrm>
            <a:off x="571500" y="571500"/>
            <a:ext cx="116016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rgbClr val="F8FAFC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Future Expansions </a:t>
            </a:r>
            <a:r>
              <a:rPr lang="en-US" sz="360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(UI/UX)</a:t>
            </a:r>
            <a:endParaRPr/>
          </a:p>
        </p:txBody>
      </p:sp>
      <p:pic>
        <p:nvPicPr>
          <p:cNvPr id="296" name="Google Shape;296;p24" descr="A modern, clean UI mockup of a mobile chat interface on a dark background. The chat shows a student asking a question about a physics lecture and a fast AI response from &quot;Gemma 4&quot; highlighting specific parts of a video transcript. Minimalist and high-tech aesthetic."/>
          <p:cNvPicPr preferRelativeResize="0"/>
          <p:nvPr/>
        </p:nvPicPr>
        <p:blipFill rotWithShape="1">
          <a:blip r:embed="rId9">
            <a:alphaModFix/>
          </a:blip>
          <a:srcRect t="25000" b="25000"/>
          <a:stretch/>
        </p:blipFill>
        <p:spPr>
          <a:xfrm>
            <a:off x="8191500" y="2117379"/>
            <a:ext cx="3429000" cy="2286000"/>
          </a:xfrm>
          <a:prstGeom prst="roundRect">
            <a:avLst>
              <a:gd name="adj" fmla="val 5000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5"/>
          <p:cNvSpPr txBox="1"/>
          <p:nvPr/>
        </p:nvSpPr>
        <p:spPr>
          <a:xfrm>
            <a:off x="295275" y="2186880"/>
            <a:ext cx="11601450" cy="1038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0" i="0" u="none" strike="noStrike" cap="non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Proposal Review</a:t>
            </a:r>
            <a:endParaRPr/>
          </a:p>
        </p:txBody>
      </p:sp>
      <p:sp>
        <p:nvSpPr>
          <p:cNvPr id="303" name="Google Shape;303;p25"/>
          <p:cNvSpPr txBox="1"/>
          <p:nvPr/>
        </p:nvSpPr>
        <p:spPr>
          <a:xfrm>
            <a:off x="571500" y="3510855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Thank you for your time. I am open to feedback and suggestions.</a:t>
            </a:r>
            <a:endParaRPr/>
          </a:p>
        </p:txBody>
      </p:sp>
      <p:sp>
        <p:nvSpPr>
          <p:cNvPr id="304" name="Google Shape;304;p25"/>
          <p:cNvSpPr txBox="1"/>
          <p:nvPr/>
        </p:nvSpPr>
        <p:spPr>
          <a:xfrm>
            <a:off x="571500" y="4413795"/>
            <a:ext cx="110490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Ready to commence development upon approval.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989</Words>
  <Application>Microsoft Office PowerPoint</Application>
  <PresentationFormat>Widescreen</PresentationFormat>
  <Paragraphs>113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Material Icons</vt:lpstr>
      <vt:lpstr>Arial</vt:lpstr>
      <vt:lpstr>Courier New</vt:lpstr>
      <vt:lpstr>Urbanist SemiBold</vt:lpstr>
      <vt:lpstr>Calibri</vt:lpstr>
      <vt:lpstr>Urbanist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Office</cp:lastModifiedBy>
  <cp:revision>3</cp:revision>
  <dcterms:modified xsi:type="dcterms:W3CDTF">2026-05-22T12:11:55Z</dcterms:modified>
</cp:coreProperties>
</file>